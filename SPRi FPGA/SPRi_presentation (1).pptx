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96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8" r:id="rId9"/>
    <p:sldId id="263" r:id="rId10"/>
    <p:sldId id="264" r:id="rId11"/>
    <p:sldId id="267" r:id="rId12"/>
    <p:sldId id="270" r:id="rId13"/>
    <p:sldId id="271" r:id="rId14"/>
    <p:sldId id="273" r:id="rId15"/>
    <p:sldId id="275" r:id="rId16"/>
    <p:sldId id="274" r:id="rId17"/>
    <p:sldId id="272" r:id="rId18"/>
    <p:sldId id="269" r:id="rId19"/>
  </p:sldIdLst>
  <p:sldSz cx="15119350" cy="106918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82802E-2AC7-40D8-B53A-35F1DD44B058}">
          <p14:sldIdLst>
            <p14:sldId id="256"/>
            <p14:sldId id="257"/>
            <p14:sldId id="258"/>
          </p14:sldIdLst>
        </p14:section>
        <p14:section name="Untitled Section" id="{5C79CAC4-2853-4CA3-B439-B74E0B593D08}">
          <p14:sldIdLst>
            <p14:sldId id="260"/>
            <p14:sldId id="259"/>
            <p14:sldId id="261"/>
            <p14:sldId id="262"/>
            <p14:sldId id="268"/>
            <p14:sldId id="263"/>
            <p14:sldId id="264"/>
            <p14:sldId id="267"/>
            <p14:sldId id="270"/>
            <p14:sldId id="271"/>
            <p14:sldId id="273"/>
            <p14:sldId id="275"/>
            <p14:sldId id="274"/>
            <p14:sldId id="272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557" userDrawn="1">
          <p15:clr>
            <a:srgbClr val="A4A3A4"/>
          </p15:clr>
        </p15:guide>
        <p15:guide id="2" pos="4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E1"/>
    <a:srgbClr val="AFABA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64" y="68"/>
      </p:cViewPr>
      <p:guideLst>
        <p:guide orient="horz" pos="3557"/>
        <p:guide pos="4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D42813-3EE8-B249-8B32-9B724E3202DB}" type="datetimeFigureOut">
              <a:rPr lang="en-JP" smtClean="0"/>
              <a:t>06/11/2026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36875" y="857250"/>
            <a:ext cx="32702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55950-16CC-4141-BA08-8FF79B47E22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8188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07769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1pPr>
    <a:lvl2pPr marL="703885" algn="l" defTabSz="1407769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2pPr>
    <a:lvl3pPr marL="1407769" algn="l" defTabSz="1407769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3pPr>
    <a:lvl4pPr marL="2111653" algn="l" defTabSz="1407769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4pPr>
    <a:lvl5pPr marL="2815538" algn="l" defTabSz="1407769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5pPr>
    <a:lvl6pPr marL="3519422" algn="l" defTabSz="1407769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6pPr>
    <a:lvl7pPr marL="4223307" algn="l" defTabSz="1407769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7pPr>
    <a:lvl8pPr marL="4927192" algn="l" defTabSz="1407769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8pPr>
    <a:lvl9pPr marL="5631075" algn="l" defTabSz="1407769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36875" y="857250"/>
            <a:ext cx="327025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D3101-6342-5349-AC5D-10BF9FF72719}" type="slidenum">
              <a:rPr lang="en-JP" smtClean="0"/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37382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C39B-E83D-6F4A-B04F-403B5D2D1C01}" type="datetime1">
              <a:rPr lang="en-GB" smtClean="0"/>
              <a:t>11/06/2026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1808-BF12-2549-9BB2-22C5AD4CB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14027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A4CB-83EB-E64B-B20E-DE22FC401B55}" type="datetime1">
              <a:rPr lang="en-GB" smtClean="0"/>
              <a:t>11/06/2026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1808-BF12-2549-9BB2-22C5AD4CB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08327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/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526C4-2044-E04D-8693-166F348AE609}" type="datetime1">
              <a:rPr lang="en-GB" smtClean="0"/>
              <a:t>11/06/2026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1808-BF12-2549-9BB2-22C5AD4CB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02049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BE73-3A4B-DC4A-8B88-2E40F5F6D26A}" type="datetime1">
              <a:rPr lang="en-GB" smtClean="0"/>
              <a:t>11/06/2026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1808-BF12-2549-9BB2-22C5AD4CB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2725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B3D9F-CBAB-C542-B12F-D55A7680CC6F}" type="datetime1">
              <a:rPr lang="en-GB" smtClean="0"/>
              <a:t>11/06/2026</a:t>
            </a:fld>
            <a:endParaRPr lang="en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1808-BF12-2549-9BB2-22C5AD4CB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72832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F00B-0264-7C4E-9DC7-20B09CC9F47B}" type="datetime1">
              <a:rPr lang="en-GB" smtClean="0"/>
              <a:t>11/06/2026</a:t>
            </a:fld>
            <a:endParaRPr lang="en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1808-BF12-2549-9BB2-22C5AD4CB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00646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99BB-1505-4B40-AABD-CA176628E569}" type="datetime1">
              <a:rPr lang="en-GB" smtClean="0"/>
              <a:t>11/06/2026</a:t>
            </a:fld>
            <a:endParaRPr lang="en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1808-BF12-2549-9BB2-22C5AD4CB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8038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DC4E-2A12-9A4E-99A5-2707D5D155BD}" type="datetime1">
              <a:rPr lang="en-GB" smtClean="0"/>
              <a:t>11/06/2026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1808-BF12-2549-9BB2-22C5AD4CB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1851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749A-78DA-2449-A786-2856682E8504}" type="datetime1">
              <a:rPr lang="en-GB" smtClean="0"/>
              <a:t>11/06/2026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1808-BF12-2549-9BB2-22C5AD4CB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09490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5D5ED-6941-EE46-BAB6-BE79C3318840}" type="datetime1">
              <a:rPr lang="en-GB" smtClean="0"/>
              <a:t>11/06/2026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1808-BF12-2549-9BB2-22C5AD4CB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6657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A816-8DFF-7E4E-9E3E-208A8CAAA495}" type="datetime1">
              <a:rPr lang="en-GB" smtClean="0"/>
              <a:t>11/06/2026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1808-BF12-2549-9BB2-22C5AD4CB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8414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372EE-8F33-1447-B812-1B64ECD24DD2}" type="datetime1">
              <a:rPr lang="en-GB" smtClean="0"/>
              <a:t>11/06/2026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81808-BF12-2549-9BB2-22C5AD4CB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87682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>
            <a:spLocks noGrp="1"/>
          </p:cNvSpPr>
          <p:nvPr>
            <p:ph type="subTitle" idx="1"/>
          </p:nvPr>
        </p:nvSpPr>
        <p:spPr>
          <a:xfrm>
            <a:off x="8927392" y="8558038"/>
            <a:ext cx="5856115" cy="19956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9065" tIns="29524" rIns="59065" bIns="29524" rtlCol="0" anchor="t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ts val="3200"/>
            </a:pPr>
            <a:r>
              <a:rPr lang="en-US" sz="2068" b="1" dirty="0">
                <a:solidFill>
                  <a:srgbClr val="0070C0"/>
                </a:solidFill>
                <a:latin typeface="Do Hyeon"/>
                <a:ea typeface="Do Hyeon"/>
                <a:cs typeface="Do Hyeon"/>
                <a:sym typeface="Do Hyeon"/>
              </a:rPr>
              <a:t>Presented  by Moon Boro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ts val="3200"/>
            </a:pPr>
            <a:r>
              <a:rPr lang="en-US" sz="2068" b="1" dirty="0">
                <a:solidFill>
                  <a:srgbClr val="0070C0"/>
                </a:solidFill>
                <a:latin typeface="Do Hyeon"/>
                <a:ea typeface="Do Hyeon"/>
                <a:cs typeface="Do Hyeon"/>
                <a:sym typeface="Do Hyeon"/>
              </a:rPr>
              <a:t>Supervisor Prof. Sachin Kumar Srivastava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ts val="3200"/>
            </a:pPr>
            <a:r>
              <a:rPr lang="en-US" sz="2068" b="1" dirty="0">
                <a:solidFill>
                  <a:srgbClr val="0070C0"/>
                </a:solidFill>
                <a:latin typeface="Do Hyeon"/>
                <a:ea typeface="Do Hyeon"/>
                <a:cs typeface="Do Hyeon"/>
                <a:sym typeface="Do Hyeon"/>
              </a:rPr>
              <a:t>Co-Supervisor Prof Darshak Bhatt 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ts val="3200"/>
            </a:pPr>
            <a:r>
              <a:rPr lang="en-US" sz="2068" b="1" dirty="0">
                <a:solidFill>
                  <a:srgbClr val="0070C0"/>
                </a:solidFill>
                <a:latin typeface="Do Hyeon"/>
                <a:ea typeface="Do Hyeon"/>
                <a:cs typeface="Do Hyeon"/>
                <a:sym typeface="Do Hyeon"/>
              </a:rPr>
              <a:t>Roll No : 25560002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ts val="3200"/>
            </a:pPr>
            <a:r>
              <a:rPr lang="en-US" sz="2068" b="1" dirty="0">
                <a:solidFill>
                  <a:srgbClr val="0070C0"/>
                </a:solidFill>
                <a:latin typeface="Do Hyeon"/>
                <a:ea typeface="Do Hyeon"/>
                <a:cs typeface="Do Hyeon"/>
                <a:sym typeface="Do Hyeon"/>
              </a:rPr>
              <a:t>Seminar 700</a:t>
            </a:r>
            <a:endParaRPr lang="en-US" sz="2400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ts val="3200"/>
            </a:pPr>
            <a:endParaRPr dirty="0">
              <a:solidFill>
                <a:srgbClr val="0070C0"/>
              </a:solidFill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1554047" y="547532"/>
            <a:ext cx="12011256" cy="231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065" tIns="29524" rIns="59065" bIns="29524" anchor="t" anchorCtr="0">
            <a:spAutoFit/>
          </a:bodyPr>
          <a:lstStyle/>
          <a:p>
            <a:pPr algn="ctr">
              <a:lnSpc>
                <a:spcPct val="150000"/>
              </a:lnSpc>
              <a:buClr>
                <a:srgbClr val="2E75B5"/>
              </a:buClr>
              <a:buSzPts val="10000"/>
            </a:pPr>
            <a:r>
              <a:rPr sz="4000" b="1" dirty="0">
                <a:solidFill>
                  <a:srgbClr val="1F3A68"/>
                </a:solidFill>
                <a:latin typeface="Arial"/>
              </a:rPr>
              <a:t>SURFACE PLASMON RESONANCE IMAGING (SPRi)</a:t>
            </a:r>
          </a:p>
          <a:p>
            <a:pPr algn="ctr">
              <a:lnSpc>
                <a:spcPct val="120000"/>
              </a:lnSpc>
            </a:pPr>
            <a:r>
              <a:rPr lang="en-US" sz="2200" i="1" dirty="0">
                <a:solidFill>
                  <a:srgbClr val="1F3A68"/>
                </a:solidFill>
                <a:latin typeface="Arial"/>
              </a:rPr>
              <a:t>Basics, State of the Art and Challenges</a:t>
            </a:r>
          </a:p>
        </p:txBody>
      </p:sp>
      <p:sp>
        <p:nvSpPr>
          <p:cNvPr id="23" name="Google Shape;23;p1"/>
          <p:cNvSpPr txBox="1"/>
          <p:nvPr/>
        </p:nvSpPr>
        <p:spPr>
          <a:xfrm>
            <a:off x="0" y="4449914"/>
            <a:ext cx="15119350" cy="5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9065" tIns="29524" rIns="59065" bIns="29524" anchor="ctr" anchorCtr="0">
            <a:spAutoFit/>
          </a:bodyPr>
          <a:lstStyle/>
          <a:p>
            <a:pPr algn="ctr">
              <a:lnSpc>
                <a:spcPct val="150000"/>
              </a:lnSpc>
              <a:buClr>
                <a:schemeClr val="lt1"/>
              </a:buClr>
              <a:buSzPts val="3600"/>
            </a:pPr>
            <a:r>
              <a:rPr lang="en-GB" sz="2068" b="1" dirty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Department Of Physics</a:t>
            </a:r>
            <a:endParaRPr lang="en-GB" sz="206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0" name="Picture 6" descr="IIT Roorkee - Wikipedia">
            <a:extLst>
              <a:ext uri="{FF2B5EF4-FFF2-40B4-BE49-F238E27FC236}">
                <a16:creationId xmlns:a16="http://schemas.microsoft.com/office/drawing/2014/main" id="{82E151DE-C285-AF3A-C406-56AE91E82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292" y="5694046"/>
            <a:ext cx="2863992" cy="2863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9671388"/>
            <a:ext cx="12919442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3600" b="1" dirty="0">
                <a:solidFill>
                  <a:srgbClr val="002060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0458" y="461861"/>
            <a:ext cx="14836289" cy="385367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SURFACE PLASMON RESONANCE — THE PHENOMENON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1100000"/>
            <a:ext cx="6800000" cy="5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02060"/>
                </a:solidFill>
                <a:latin typeface="Calibri"/>
              </a:rPr>
              <a:t>What is SPR?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" y="1620000"/>
            <a:ext cx="6800000" cy="152457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A highly sensitive optical phenomenon at a dielectric–metal interface.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Metal must have a negative real dielectric constant (typically Au or Ag).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" y="3500000"/>
            <a:ext cx="6800000" cy="5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02060"/>
                </a:solidFill>
                <a:latin typeface="Calibri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00" y="4020000"/>
            <a:ext cx="6800000" cy="360617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p-polarized (TM) light strikes a prism</a:t>
            </a:r>
            <a:endParaRPr lang="en-US" b="0" dirty="0">
              <a:solidFill>
                <a:srgbClr val="222D4A"/>
              </a:solidFill>
              <a:latin typeface="Calibri"/>
            </a:endParaRPr>
          </a:p>
          <a:p>
            <a:pPr marL="857250" lvl="1" indent="-400050">
              <a:lnSpc>
                <a:spcPct val="130000"/>
              </a:lnSpc>
              <a:spcAft>
                <a:spcPts val="800"/>
              </a:spcAft>
              <a:buFont typeface="+mj-lt"/>
              <a:buAutoNum type="romanUcPeriod"/>
            </a:pPr>
            <a:r>
              <a:rPr lang="en-US" b="0" dirty="0">
                <a:solidFill>
                  <a:srgbClr val="222D4A"/>
                </a:solidFill>
                <a:latin typeface="Calibri"/>
              </a:rPr>
              <a:t>metal interface above the critical angle </a:t>
            </a:r>
          </a:p>
          <a:p>
            <a:pPr marL="857250" lvl="1" indent="-400050">
              <a:lnSpc>
                <a:spcPct val="130000"/>
              </a:lnSpc>
              <a:spcAft>
                <a:spcPts val="800"/>
              </a:spcAft>
              <a:buFont typeface="+mj-lt"/>
              <a:buAutoNum type="romanUcPeriod"/>
            </a:pPr>
            <a:r>
              <a:rPr lang="en-US" b="0" dirty="0">
                <a:solidFill>
                  <a:srgbClr val="222D4A"/>
                </a:solidFill>
                <a:latin typeface="Calibri"/>
              </a:rPr>
              <a:t>total internal reflection.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An evanescent wave penetrates a short distance into the metal.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Free electrons at the metal surface oscillate collectively </a:t>
            </a:r>
            <a:endParaRPr lang="en-US" b="0" dirty="0">
              <a:solidFill>
                <a:srgbClr val="222D4A"/>
              </a:solidFill>
              <a:latin typeface="Calibri"/>
            </a:endParaRPr>
          </a:p>
          <a:p>
            <a:pPr marL="742950" lvl="1" indent="-285750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222D4A"/>
                </a:solidFill>
                <a:latin typeface="Calibri"/>
              </a:rPr>
              <a:t> Surface Plasmon Polaritons (SPPs).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Resonant coupling between the evanescent wave and SPPs </a:t>
            </a:r>
            <a:endParaRPr lang="en-US" dirty="0">
              <a:solidFill>
                <a:srgbClr val="222D4A"/>
              </a:solidFill>
              <a:latin typeface="Calibri"/>
            </a:endParaRPr>
          </a:p>
          <a:p>
            <a:pPr marL="742950" lvl="1" indent="-285750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222D4A"/>
                </a:solidFill>
                <a:latin typeface="Calibri"/>
              </a:rPr>
              <a:t> sharp dip in reflected intensity.</a:t>
            </a:r>
          </a:p>
        </p:txBody>
      </p:sp>
      <p:pic>
        <p:nvPicPr>
          <p:cNvPr id="14" name="Picture 13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00" y="2400000"/>
            <a:ext cx="6900000" cy="24156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00000" y="4855619"/>
            <a:ext cx="6900000" cy="528093"/>
          </a:xfrm>
          <a:prstGeom prst="rect">
            <a:avLst/>
          </a:prstGeom>
          <a:noFill/>
        </p:spPr>
        <p:txBody>
          <a:bodyPr wrap="square" lIns="20000" tIns="0" rIns="2000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1" dirty="0">
                <a:solidFill>
                  <a:srgbClr val="6B7280"/>
                </a:solidFill>
                <a:latin typeface="Calibri"/>
              </a:rPr>
              <a:t>Fig. 1 — Surface Plasmon Polaritons: collective oscillation of free electrons coupled to an evanescent EM field at the metal surface.</a:t>
            </a:r>
          </a:p>
        </p:txBody>
      </p:sp>
      <p:pic>
        <p:nvPicPr>
          <p:cNvPr id="17" name="Picture 6" descr="IIT Roorkee - Wikipedia">
            <a:extLst>
              <a:ext uri="{FF2B5EF4-FFF2-40B4-BE49-F238E27FC236}">
                <a16:creationId xmlns:a16="http://schemas.microsoft.com/office/drawing/2014/main" id="{05A5AD5F-EBFB-0F8C-DF38-A6D8B7570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6761" y="9728904"/>
            <a:ext cx="913012" cy="91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71388"/>
            <a:ext cx="12919442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PHYSICS OF SPR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3600" b="1">
                <a:solidFill>
                  <a:srgbClr val="002060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000" b="1" dirty="0">
                <a:solidFill>
                  <a:srgbClr val="002060"/>
                </a:solidFill>
                <a:latin typeface="Calibri"/>
              </a:rPr>
              <a:t>IITR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458" y="461861"/>
            <a:ext cx="14836289" cy="385367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EXCITATION CONDITIONS &amp; CONFIGURATIONS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1100000"/>
            <a:ext cx="7200000" cy="5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 dirty="0">
                <a:solidFill>
                  <a:srgbClr val="002060"/>
                </a:solidFill>
                <a:latin typeface="Calibri"/>
              </a:rPr>
              <a:t>Phase-Matching Condition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" y="1620000"/>
            <a:ext cx="7200000" cy="77693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Light must be p-polarized (TM).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In-plane photon momentum must equal plasmon momentum.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" y="3200000"/>
            <a:ext cx="7200000" cy="5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02060"/>
                </a:solidFill>
                <a:latin typeface="Calibri"/>
              </a:rPr>
              <a:t>Dispersion 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" y="4960000"/>
            <a:ext cx="6500000" cy="420000"/>
          </a:xfrm>
          <a:prstGeom prst="rect">
            <a:avLst/>
          </a:prstGeom>
          <a:noFill/>
        </p:spPr>
        <p:txBody>
          <a:bodyPr wrap="square" lIns="20000" tIns="0" rIns="20000" bIns="0">
            <a:spAutoFit/>
          </a:bodyPr>
          <a:lstStyle/>
          <a:p>
            <a:pPr algn="ctr">
              <a:lnSpc>
                <a:spcPct val="110000"/>
              </a:lnSpc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80000" y="4308353"/>
            <a:ext cx="800000" cy="7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Calibri"/>
              </a:rPr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0000" y="5500000"/>
                <a:ext cx="7200000" cy="846766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anchor="t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sz="2400" dirty="0" err="1"/>
                  <a:t>ε</a:t>
                </a:r>
                <a:r>
                  <a:rPr lang="en-US" dirty="0" err="1"/>
                  <a:t>s</a:t>
                </a:r>
                <a:r>
                  <a:rPr lang="en-US" dirty="0"/>
                  <a:t>​, </a:t>
                </a:r>
                <a:r>
                  <a:rPr lang="en-US" sz="2400" dirty="0" err="1"/>
                  <a:t>ε</a:t>
                </a:r>
                <a:r>
                  <a:rPr lang="en-US" dirty="0" err="1"/>
                  <a:t>m</a:t>
                </a:r>
                <a:r>
                  <a:rPr lang="en-US" dirty="0"/>
                  <a:t>​: permittivity's of glass (medium 1) and metal (medium 2);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: angular frequency;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: speed of light.</a:t>
                </a:r>
                <a:endParaRPr b="0" i="1" dirty="0">
                  <a:solidFill>
                    <a:srgbClr val="6B728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00" y="5500000"/>
                <a:ext cx="7200000" cy="846766"/>
              </a:xfrm>
              <a:prstGeom prst="rect">
                <a:avLst/>
              </a:prstGeom>
              <a:blipFill>
                <a:blip r:embed="rId2"/>
                <a:stretch>
                  <a:fillRect l="-2030" b="-143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350000" y="6500000"/>
            <a:ext cx="7200000" cy="5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02060"/>
                </a:solidFill>
                <a:latin typeface="Calibri"/>
              </a:rPr>
              <a:t>Prism-Coupling Configurations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000" y="7000000"/>
            <a:ext cx="7200000" cy="116448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Otto configuration — thin air gap between prism and metal film.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Kretschmann–Raether — metal film deposited directly on prism; most widely used; foundation for SPRi.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000" y="4460000"/>
            <a:ext cx="6700000" cy="528093"/>
          </a:xfrm>
          <a:prstGeom prst="rect">
            <a:avLst/>
          </a:prstGeom>
          <a:noFill/>
        </p:spPr>
        <p:txBody>
          <a:bodyPr wrap="square" lIns="20000" tIns="0" rIns="2000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1" dirty="0">
                <a:solidFill>
                  <a:srgbClr val="6B7280"/>
                </a:solidFill>
                <a:latin typeface="Calibri"/>
              </a:rPr>
              <a:t>Fig. 2 — Otto configuration: a thin air gap separates the prism from the metal film. [Tomio, CC BY-SA 3.0]</a:t>
            </a:r>
          </a:p>
        </p:txBody>
      </p:sp>
      <p:pic>
        <p:nvPicPr>
          <p:cNvPr id="21" name="Picture 20" descr="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697" y="5300000"/>
            <a:ext cx="5754606" cy="352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00000" y="8860000"/>
            <a:ext cx="6700000" cy="528093"/>
          </a:xfrm>
          <a:prstGeom prst="rect">
            <a:avLst/>
          </a:prstGeom>
          <a:noFill/>
        </p:spPr>
        <p:txBody>
          <a:bodyPr wrap="square" lIns="20000" tIns="0" rIns="2000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1" dirty="0">
                <a:solidFill>
                  <a:srgbClr val="6B7280"/>
                </a:solidFill>
                <a:latin typeface="Calibri"/>
              </a:rPr>
              <a:t>Fig. 3 — Kretschmann–Raether configuration: the metal film is deposited directly on the prism base. [Wikimedia Commons, Public Domain]</a:t>
            </a:r>
          </a:p>
        </p:txBody>
      </p:sp>
      <p:pic>
        <p:nvPicPr>
          <p:cNvPr id="23" name="Picture 6" descr="IIT Roorkee - Wikipedia">
            <a:extLst>
              <a:ext uri="{FF2B5EF4-FFF2-40B4-BE49-F238E27FC236}">
                <a16:creationId xmlns:a16="http://schemas.microsoft.com/office/drawing/2014/main" id="{7692A100-D601-EF53-2064-8269281C1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6761" y="9728904"/>
            <a:ext cx="913012" cy="91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 1" descr="C:\Users\mnbor\OneDrive\Documents\spr\Seminar\fig2.png">
            <a:extLst>
              <a:ext uri="{FF2B5EF4-FFF2-40B4-BE49-F238E27FC236}">
                <a16:creationId xmlns:a16="http://schemas.microsoft.com/office/drawing/2014/main" id="{6E8DB0C6-9F9A-674E-B25F-5AD2CD3B0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5110" y="1128764"/>
            <a:ext cx="5147173" cy="30497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B44188C-922D-5D84-F3C0-B079C6E1AA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00" y="3622711"/>
            <a:ext cx="3810000" cy="16272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71388"/>
            <a:ext cx="12903864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PHYSICS OF SPR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3600" b="1">
                <a:solidFill>
                  <a:srgbClr val="002060"/>
                </a:solidFill>
                <a:latin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0458" y="461861"/>
            <a:ext cx="14836289" cy="385367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Calibri"/>
              </a:rPr>
              <a:t>PHYSICS RECAP — TIR &amp; THE EVANESCENT WAVE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1100000"/>
            <a:ext cx="8000000" cy="4028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02060"/>
                </a:solidFill>
                <a:latin typeface="Calibri"/>
              </a:rPr>
              <a:t>Total Internal Reflection (Snell's Law)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" y="1620000"/>
            <a:ext cx="8000000" cy="77693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Light travels from high → low refractive index medium  (η₁ &gt; η₂).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Above the critical angle → fully reflected:</a:t>
            </a:r>
          </a:p>
        </p:txBody>
      </p:sp>
      <p:pic>
        <p:nvPicPr>
          <p:cNvPr id="12" name="Picture 11" descr="eq2_sn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71" y="2700000"/>
            <a:ext cx="3408457" cy="62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0000" y="3360000"/>
            <a:ext cx="4200000" cy="420000"/>
          </a:xfrm>
          <a:prstGeom prst="rect">
            <a:avLst/>
          </a:prstGeom>
          <a:noFill/>
        </p:spPr>
        <p:txBody>
          <a:bodyPr wrap="square" lIns="20000" tIns="0" rIns="20000" bIns="0">
            <a:spAutoFit/>
          </a:bodyPr>
          <a:lstStyle/>
          <a:p>
            <a:pPr algn="ctr">
              <a:lnSpc>
                <a:spcPct val="110000"/>
              </a:lnSpc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0000" y="2950000"/>
            <a:ext cx="800000" cy="6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545"/>
                </a:solidFill>
                <a:latin typeface="Calibri"/>
              </a:rPr>
              <a:t>(2)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000" y="3950000"/>
            <a:ext cx="8000000" cy="4028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02060"/>
                </a:solidFill>
                <a:latin typeface="Calibri"/>
              </a:rPr>
              <a:t>Evanescent Wave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" y="4470000"/>
            <a:ext cx="8000000" cy="88107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200" b="0" dirty="0">
                <a:solidFill>
                  <a:srgbClr val="222D4A"/>
                </a:solidFill>
                <a:latin typeface="Calibri"/>
              </a:rPr>
              <a:t>▸  A small field intensity leaks into medium 2 during TIR; decays exponentially with depth z:</a:t>
            </a:r>
          </a:p>
        </p:txBody>
      </p:sp>
      <p:pic>
        <p:nvPicPr>
          <p:cNvPr id="17" name="Picture 16" descr="eq3_evanes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34" y="5524306"/>
            <a:ext cx="1724333" cy="42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00000" y="5630000"/>
            <a:ext cx="2700000" cy="420000"/>
          </a:xfrm>
          <a:prstGeom prst="rect">
            <a:avLst/>
          </a:prstGeom>
          <a:noFill/>
        </p:spPr>
        <p:txBody>
          <a:bodyPr wrap="square" lIns="20000" tIns="0" rIns="20000" bIns="0">
            <a:spAutoFit/>
          </a:bodyPr>
          <a:lstStyle/>
          <a:p>
            <a:pPr algn="ctr">
              <a:lnSpc>
                <a:spcPct val="110000"/>
              </a:lnSpc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0000" y="5486931"/>
            <a:ext cx="800000" cy="6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>
                <a:solidFill>
                  <a:srgbClr val="0B2545"/>
                </a:solidFill>
                <a:latin typeface="Calibri"/>
              </a:rPr>
              <a:t>(3)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" y="6100000"/>
            <a:ext cx="8000000" cy="4028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02060"/>
                </a:solidFill>
                <a:latin typeface="Calibri"/>
              </a:rPr>
              <a:t>Penetration Depth</a:t>
            </a:r>
          </a:p>
        </p:txBody>
      </p:sp>
      <p:pic>
        <p:nvPicPr>
          <p:cNvPr id="21" name="Picture 20" descr="eq4_penet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03" y="6748901"/>
            <a:ext cx="3101992" cy="82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00000" y="7480000"/>
            <a:ext cx="4500000" cy="420000"/>
          </a:xfrm>
          <a:prstGeom prst="rect">
            <a:avLst/>
          </a:prstGeom>
          <a:noFill/>
        </p:spPr>
        <p:txBody>
          <a:bodyPr wrap="square" lIns="20000" tIns="0" rIns="20000" bIns="0">
            <a:spAutoFit/>
          </a:bodyPr>
          <a:lstStyle/>
          <a:p>
            <a:pPr algn="ctr">
              <a:lnSpc>
                <a:spcPct val="110000"/>
              </a:lnSpc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0000" y="6926431"/>
            <a:ext cx="800000" cy="6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>
                <a:solidFill>
                  <a:srgbClr val="0B2545"/>
                </a:solidFill>
                <a:latin typeface="Calibri"/>
              </a:rPr>
              <a:t>(4)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000" y="7950000"/>
            <a:ext cx="8000000" cy="3673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1" dirty="0">
                <a:solidFill>
                  <a:srgbClr val="6B7280"/>
                </a:solidFill>
                <a:latin typeface="Calibri"/>
              </a:rPr>
              <a:t>Typical penetration depth ~ a few hundred nm.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000" y="8500000"/>
            <a:ext cx="8000000" cy="1087537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0" dirty="0">
                <a:solidFill>
                  <a:srgbClr val="222D4A"/>
                </a:solidFill>
                <a:latin typeface="Calibri"/>
              </a:rPr>
              <a:t>Coupling to surface plasmons:  when the evanescent field's frequency matches the collective electron oscillation, energy is transferred to SPPs → resonance dip in reflected intensity.</a:t>
            </a:r>
          </a:p>
        </p:txBody>
      </p:sp>
      <p:pic>
        <p:nvPicPr>
          <p:cNvPr id="26" name="Picture 25" descr="figure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000" y="1100000"/>
            <a:ext cx="6100000" cy="34312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00000" y="4571250"/>
            <a:ext cx="6100000" cy="528093"/>
          </a:xfrm>
          <a:prstGeom prst="rect">
            <a:avLst/>
          </a:prstGeom>
          <a:noFill/>
        </p:spPr>
        <p:txBody>
          <a:bodyPr wrap="square" lIns="20000" tIns="0" rIns="2000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i="1" dirty="0">
                <a:solidFill>
                  <a:srgbClr val="6B7280"/>
                </a:solidFill>
                <a:latin typeface="Calibri"/>
              </a:rPr>
              <a:t>Fig. 5 — Total internal reflection geometry: incident and reflected rays in the denser medium (water, η₁) with the rarer medium (air, η₂) above.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00000" y="7000000"/>
            <a:ext cx="6100000" cy="2200000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50000" y="7100000"/>
            <a:ext cx="5800000" cy="4028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02060"/>
                </a:solidFill>
                <a:latin typeface="Calibri"/>
              </a:rPr>
              <a:t>Key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0000" y="7600000"/>
            <a:ext cx="5800000" cy="15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0" i="0" dirty="0">
                <a:solidFill>
                  <a:srgbClr val="222D4A"/>
                </a:solidFill>
                <a:latin typeface="Calibri"/>
              </a:rPr>
              <a:t>Resonant coupling between the evanescent field and the collective electron oscillation of the metal surface transfers energy to surface plasmons — producing a sharp dip in reflected intensity, the SPR signal.</a:t>
            </a:r>
          </a:p>
        </p:txBody>
      </p:sp>
      <p:pic>
        <p:nvPicPr>
          <p:cNvPr id="31" name="Picture 6" descr="IIT Roorkee - Wikipedia">
            <a:extLst>
              <a:ext uri="{FF2B5EF4-FFF2-40B4-BE49-F238E27FC236}">
                <a16:creationId xmlns:a16="http://schemas.microsoft.com/office/drawing/2014/main" id="{A24F01BB-B669-8370-AF7C-EAB066A4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6761" y="9728904"/>
            <a:ext cx="913012" cy="91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71388"/>
            <a:ext cx="12919442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FROM SPR TO IMAGING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3600" b="1">
                <a:solidFill>
                  <a:srgbClr val="002060"/>
                </a:solidFill>
                <a:latin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0458" y="461861"/>
            <a:ext cx="14836289" cy="385367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Calibri"/>
              </a:rPr>
              <a:t>SPR IMAGING (SPRi) —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1100000"/>
            <a:ext cx="14300000" cy="4028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 dirty="0">
                <a:solidFill>
                  <a:srgbClr val="002060"/>
                </a:solidFill>
                <a:latin typeface="Calibri"/>
              </a:rPr>
              <a:t>From single-point SPR to two-dimensional imaging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00" y="1750000"/>
            <a:ext cx="4600000" cy="3200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000" y="1750000"/>
            <a:ext cx="4600000" cy="120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000" y="1950000"/>
            <a:ext cx="2238498" cy="384721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l"/>
            <a:r>
              <a:rPr sz="2200" b="1" dirty="0">
                <a:solidFill>
                  <a:srgbClr val="6B7280"/>
                </a:solidFill>
                <a:latin typeface="Calibri"/>
              </a:rPr>
              <a:t>Conventional SPR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0" y="2550000"/>
            <a:ext cx="4360000" cy="141051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2200" dirty="0">
                <a:solidFill>
                  <a:srgbClr val="222D4A"/>
                </a:solidFill>
                <a:latin typeface="Calibri"/>
              </a:rPr>
              <a:t>▸  Angle-swept measurement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2200" dirty="0">
                <a:solidFill>
                  <a:srgbClr val="222D4A"/>
                </a:solidFill>
                <a:latin typeface="Calibri"/>
              </a:rPr>
              <a:t>▸  Single spot per acquisition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2200" dirty="0">
                <a:solidFill>
                  <a:srgbClr val="222D4A"/>
                </a:solidFill>
                <a:latin typeface="Calibri"/>
              </a:rPr>
              <a:t>▸  Limited multiplexing capability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0000" y="1750000"/>
            <a:ext cx="4600000" cy="3200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00000" y="1750000"/>
            <a:ext cx="4600000" cy="12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20000" y="1950000"/>
            <a:ext cx="1578061" cy="323165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l"/>
            <a:r>
              <a:rPr b="1" dirty="0">
                <a:solidFill>
                  <a:srgbClr val="002060"/>
                </a:solidFill>
                <a:latin typeface="Calibri"/>
              </a:rPr>
              <a:t>SPRi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0000" y="2550000"/>
            <a:ext cx="4360000" cy="1835887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2200" dirty="0">
                <a:solidFill>
                  <a:srgbClr val="222D4A"/>
                </a:solidFill>
                <a:latin typeface="Calibri"/>
              </a:rPr>
              <a:t>▸  Fixed angle + collimated beam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2200" dirty="0">
                <a:solidFill>
                  <a:srgbClr val="222D4A"/>
                </a:solidFill>
                <a:latin typeface="Calibri"/>
              </a:rPr>
              <a:t>▸  Extended illumination area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2200" dirty="0">
                <a:solidFill>
                  <a:srgbClr val="222D4A"/>
                </a:solidFill>
                <a:latin typeface="Calibri"/>
              </a:rPr>
              <a:t>▸  Every CCD/CMOS pixel acts as an independent sensor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0000" y="1750000"/>
            <a:ext cx="4600000" cy="3200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98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0000" y="1750000"/>
            <a:ext cx="4600000" cy="120000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70000" y="1950000"/>
            <a:ext cx="1865447" cy="353943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l"/>
            <a:r>
              <a:rPr sz="2000" b="1" dirty="0">
                <a:solidFill>
                  <a:srgbClr val="C98A1B"/>
                </a:solidFill>
                <a:latin typeface="Calibri"/>
              </a:rPr>
              <a:t>Key Advantages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0000" y="2550000"/>
            <a:ext cx="4360000" cy="2259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2200" dirty="0">
                <a:solidFill>
                  <a:srgbClr val="222D4A"/>
                </a:solidFill>
                <a:latin typeface="Calibri"/>
              </a:rPr>
              <a:t>▸  Hundreds of spots in parallel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2200" dirty="0">
                <a:solidFill>
                  <a:srgbClr val="222D4A"/>
                </a:solidFill>
                <a:latin typeface="Calibri"/>
              </a:rPr>
              <a:t>▸  High-throughput label-free biosensing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2200" dirty="0">
                <a:solidFill>
                  <a:srgbClr val="222D4A"/>
                </a:solidFill>
                <a:latin typeface="Calibri"/>
              </a:rPr>
              <a:t>▸  Spatial + temporal info in one experiment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000" y="5200000"/>
            <a:ext cx="14300000" cy="4028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02060"/>
                </a:solidFill>
                <a:latin typeface="Calibri"/>
              </a:rPr>
              <a:t>Foundation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000" y="5700000"/>
            <a:ext cx="12194425" cy="955834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>
                <a:solidFill>
                  <a:srgbClr val="222D4A"/>
                </a:solidFill>
                <a:latin typeface="Calibri"/>
              </a:rPr>
              <a:t>▸  Built on the Kretschmann configuration.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>
                <a:solidFill>
                  <a:srgbClr val="222D4A"/>
                </a:solidFill>
                <a:latin typeface="Calibri"/>
              </a:rPr>
              <a:t>▸  Same underlying physics: total internal reflection + momentum matching at the prism base.</a:t>
            </a:r>
          </a:p>
        </p:txBody>
      </p:sp>
      <p:pic>
        <p:nvPicPr>
          <p:cNvPr id="27" name="Picture 6" descr="IIT Roorkee - Wikipedia">
            <a:extLst>
              <a:ext uri="{FF2B5EF4-FFF2-40B4-BE49-F238E27FC236}">
                <a16:creationId xmlns:a16="http://schemas.microsoft.com/office/drawing/2014/main" id="{344BD7DB-6744-3349-9CCC-6C82EC7DB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6761" y="9728904"/>
            <a:ext cx="913012" cy="91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71388"/>
            <a:ext cx="12919442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INSTRUMENTATION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3600" b="1">
                <a:solidFill>
                  <a:srgbClr val="002060"/>
                </a:solidFill>
                <a:latin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0458" y="461861"/>
            <a:ext cx="14836289" cy="385367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SPRi INSTRUMENTATION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1080000"/>
            <a:ext cx="7600000" cy="336177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>
                <a:solidFill>
                  <a:srgbClr val="002060"/>
                </a:solidFill>
                <a:latin typeface="Calibri"/>
              </a:rPr>
              <a:t>Working 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" y="1580000"/>
            <a:ext cx="7600000" cy="1138833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Combines SPR physics with 2D image capture via a CCD camera.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Records spatially-resolved reflectivity changes across the entire sensor surface.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" y="2950000"/>
            <a:ext cx="7600000" cy="336177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 dirty="0">
                <a:solidFill>
                  <a:srgbClr val="002060"/>
                </a:solidFill>
                <a:latin typeface="Calibri"/>
              </a:rPr>
              <a:t>Core Components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5227"/>
              </p:ext>
            </p:extLst>
          </p:nvPr>
        </p:nvGraphicFramePr>
        <p:xfrm>
          <a:off x="350000" y="3500000"/>
          <a:ext cx="7600000" cy="2623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1">
                          <a:solidFill>
                            <a:srgbClr val="222D4A"/>
                          </a:solidFill>
                          <a:latin typeface="Calibri"/>
                        </a:rPr>
                        <a:t>Light source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0" dirty="0">
                          <a:solidFill>
                            <a:srgbClr val="222D4A"/>
                          </a:solidFill>
                          <a:latin typeface="Calibri"/>
                        </a:rPr>
                        <a:t>He–Ne laser — monochromatic, </a:t>
                      </a:r>
                      <a:r>
                        <a:rPr lang="en-IN" sz="1800" dirty="0"/>
                        <a:t>low-divergence</a:t>
                      </a:r>
                      <a:endParaRPr sz="1800" b="0" dirty="0">
                        <a:solidFill>
                          <a:srgbClr val="222D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1">
                          <a:solidFill>
                            <a:srgbClr val="222D4A"/>
                          </a:solidFill>
                          <a:latin typeface="Calibri"/>
                        </a:rPr>
                        <a:t>Prism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0">
                          <a:solidFill>
                            <a:srgbClr val="222D4A"/>
                          </a:solidFill>
                          <a:latin typeface="Calibri"/>
                        </a:rPr>
                        <a:t>Glass slide coupling for momentum matching (Kretschmann)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1" dirty="0">
                          <a:solidFill>
                            <a:srgbClr val="222D4A"/>
                          </a:solidFill>
                          <a:latin typeface="Calibri"/>
                        </a:rPr>
                        <a:t>Sensor chip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0">
                          <a:solidFill>
                            <a:srgbClr val="222D4A"/>
                          </a:solidFill>
                          <a:latin typeface="Calibri"/>
                        </a:rPr>
                        <a:t>~50 nm Au/Ag film on glass; biofunctionalized surface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1">
                          <a:solidFill>
                            <a:srgbClr val="222D4A"/>
                          </a:solidFill>
                          <a:latin typeface="Calibri"/>
                        </a:rPr>
                        <a:t>Detector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0" dirty="0">
                          <a:solidFill>
                            <a:srgbClr val="222D4A"/>
                          </a:solidFill>
                          <a:latin typeface="Calibri"/>
                        </a:rPr>
                        <a:t>CCD / CMOS camera captures the reflected beam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50000" y="6100000"/>
            <a:ext cx="7600000" cy="336177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 dirty="0">
                <a:solidFill>
                  <a:srgbClr val="002060"/>
                </a:solidFill>
                <a:latin typeface="Calibri"/>
              </a:rPr>
              <a:t>Supporting Optics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000" y="6600000"/>
            <a:ext cx="7600000" cy="150931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Polarizer → ensures p-polarized (TM) light.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Beam expander → uniform illumination over the sensor area.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Focusing lenses → image formation on the detector.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Filters &amp; rotating stage → angle tuning and noise reduction.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" y="8268482"/>
            <a:ext cx="7600000" cy="336177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 dirty="0">
                <a:solidFill>
                  <a:srgbClr val="002060"/>
                </a:solidFill>
                <a:latin typeface="Calibri"/>
              </a:rPr>
              <a:t>Configuration Variants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00" y="8774793"/>
            <a:ext cx="12337300" cy="702816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Prism-based SPRi (Kretschmann) — robust, widely used.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Objective-based SPRi — high-NA objective → higher spatial resolution; microscope-compatible.</a:t>
            </a:r>
          </a:p>
        </p:txBody>
      </p:sp>
      <p:pic>
        <p:nvPicPr>
          <p:cNvPr id="18" name="Picture 17" descr="figur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1080000"/>
            <a:ext cx="6700000" cy="481512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00000" y="5935122"/>
            <a:ext cx="6700000" cy="1203535"/>
          </a:xfrm>
          <a:prstGeom prst="rect">
            <a:avLst/>
          </a:prstGeom>
          <a:noFill/>
        </p:spPr>
        <p:txBody>
          <a:bodyPr wrap="square" lIns="20000" tIns="0" rIns="2000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i="1">
                <a:solidFill>
                  <a:srgbClr val="6B7280"/>
                </a:solidFill>
                <a:latin typeface="Calibri"/>
              </a:rPr>
              <a:t>Fig. 6 — Complete SPRi instrumentation schematic: light source, prism, biofunctionalized Au surface (with conjugated ligands on a dextran matrix), flow cell, and detector capturing the reflected beam at the SPR angle.</a:t>
            </a:r>
          </a:p>
        </p:txBody>
      </p:sp>
      <p:pic>
        <p:nvPicPr>
          <p:cNvPr id="20" name="Picture 6" descr="IIT Roorkee - Wikipedia">
            <a:extLst>
              <a:ext uri="{FF2B5EF4-FFF2-40B4-BE49-F238E27FC236}">
                <a16:creationId xmlns:a16="http://schemas.microsoft.com/office/drawing/2014/main" id="{A043653E-4746-A9C4-C929-6599C1098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6761" y="9728904"/>
            <a:ext cx="913012" cy="91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71388"/>
            <a:ext cx="12903864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STATE OF THE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3600" b="1">
                <a:solidFill>
                  <a:srgbClr val="002060"/>
                </a:solidFill>
                <a:latin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0458" y="461861"/>
            <a:ext cx="14836289" cy="385367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SPRi — STATE OF THE ART (OVERVIEW)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1100000"/>
            <a:ext cx="14300000" cy="7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>
                <a:solidFill>
                  <a:srgbClr val="002060"/>
                </a:solidFill>
                <a:latin typeface="Calibri"/>
              </a:rPr>
              <a:t>Where the field stands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999" y="1800000"/>
            <a:ext cx="9908425" cy="123963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SPRi has evolved from a proof-of-concept imaging tool into a mature, multiplexed biosensing platform.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Modern systems achieve sub-nanomolar sensitivity with hundreds–thousands of spots per chip.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Active research is pushing toward single-molecule, single-cell, and single-nanoparticle resolution.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" y="4300000"/>
            <a:ext cx="14300000" cy="5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 dirty="0">
                <a:solidFill>
                  <a:srgbClr val="002060"/>
                </a:solidFill>
                <a:latin typeface="Calibri"/>
              </a:rPr>
              <a:t>Key Advancement Directions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1350000" y="5000000"/>
            <a:ext cx="700000" cy="70000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000" y="5900000"/>
            <a:ext cx="2700000" cy="250000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7837" y="6050000"/>
            <a:ext cx="1284326" cy="353943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2000" b="1" dirty="0">
                <a:solidFill>
                  <a:srgbClr val="002060"/>
                </a:solidFill>
                <a:latin typeface="Calibri"/>
              </a:rPr>
              <a:t>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0" y="6620000"/>
            <a:ext cx="2460000" cy="71301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lnSpc>
                <a:spcPct val="125000"/>
              </a:lnSpc>
            </a:pPr>
            <a:r>
              <a:rPr dirty="0">
                <a:solidFill>
                  <a:srgbClr val="222D4A"/>
                </a:solidFill>
                <a:latin typeface="Calibri"/>
              </a:rPr>
              <a:t>Nanostructures, phase-sensitive detection</a:t>
            </a:r>
          </a:p>
        </p:txBody>
      </p:sp>
      <p:sp>
        <p:nvSpPr>
          <p:cNvPr id="17" name="Oval 16"/>
          <p:cNvSpPr/>
          <p:nvPr/>
        </p:nvSpPr>
        <p:spPr>
          <a:xfrm>
            <a:off x="4250000" y="5000000"/>
            <a:ext cx="700000" cy="70000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50000" y="5900000"/>
            <a:ext cx="2700000" cy="250000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8889" y="6050000"/>
            <a:ext cx="1322221" cy="353943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2000" b="1" dirty="0">
                <a:solidFill>
                  <a:srgbClr val="002060"/>
                </a:solidFill>
                <a:latin typeface="Calibri"/>
              </a:rPr>
              <a:t>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0000" y="6620000"/>
            <a:ext cx="2460000" cy="71301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lnSpc>
                <a:spcPct val="125000"/>
              </a:lnSpc>
            </a:pPr>
            <a:r>
              <a:rPr dirty="0">
                <a:solidFill>
                  <a:srgbClr val="222D4A"/>
                </a:solidFill>
                <a:latin typeface="Calibri"/>
              </a:rPr>
              <a:t>Objective-coupled &amp; nanoscale SPRi</a:t>
            </a:r>
          </a:p>
        </p:txBody>
      </p:sp>
      <p:sp>
        <p:nvSpPr>
          <p:cNvPr id="21" name="Oval 20"/>
          <p:cNvSpPr/>
          <p:nvPr/>
        </p:nvSpPr>
        <p:spPr>
          <a:xfrm>
            <a:off x="7150000" y="5000000"/>
            <a:ext cx="700000" cy="70000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0000" y="5900000"/>
            <a:ext cx="2700000" cy="250000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71884" y="6050000"/>
            <a:ext cx="1456231" cy="353943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2000" b="1" dirty="0">
                <a:solidFill>
                  <a:srgbClr val="002060"/>
                </a:solidFill>
                <a:latin typeface="Calibri"/>
              </a:rPr>
              <a:t>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0000" y="6620000"/>
            <a:ext cx="2460000" cy="105926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lnSpc>
                <a:spcPct val="125000"/>
              </a:lnSpc>
            </a:pPr>
            <a:r>
              <a:rPr dirty="0">
                <a:solidFill>
                  <a:srgbClr val="222D4A"/>
                </a:solidFill>
                <a:latin typeface="Calibri"/>
              </a:rPr>
              <a:t>Hyperspectral, phase, multi-parametric imaging</a:t>
            </a:r>
          </a:p>
        </p:txBody>
      </p:sp>
      <p:sp>
        <p:nvSpPr>
          <p:cNvPr id="25" name="Oval 24"/>
          <p:cNvSpPr/>
          <p:nvPr/>
        </p:nvSpPr>
        <p:spPr>
          <a:xfrm>
            <a:off x="10050000" y="5000000"/>
            <a:ext cx="700000" cy="70000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0000" y="5900000"/>
            <a:ext cx="2700000" cy="250000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50998" y="6050000"/>
            <a:ext cx="898003" cy="353943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2000" b="1" dirty="0">
                <a:solidFill>
                  <a:srgbClr val="002060"/>
                </a:solidFill>
                <a:latin typeface="Calibri"/>
              </a:rPr>
              <a:t>Hybrid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0000" y="6620000"/>
            <a:ext cx="2460000" cy="71301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lnSpc>
                <a:spcPct val="125000"/>
              </a:lnSpc>
            </a:pPr>
            <a:r>
              <a:rPr dirty="0">
                <a:solidFill>
                  <a:srgbClr val="222D4A"/>
                </a:solidFill>
                <a:latin typeface="Calibri"/>
              </a:rPr>
              <a:t>SPRi + electrochemistry, fluorescence, MS</a:t>
            </a:r>
          </a:p>
        </p:txBody>
      </p:sp>
      <p:sp>
        <p:nvSpPr>
          <p:cNvPr id="29" name="Oval 28"/>
          <p:cNvSpPr/>
          <p:nvPr/>
        </p:nvSpPr>
        <p:spPr>
          <a:xfrm>
            <a:off x="12950000" y="5000000"/>
            <a:ext cx="700000" cy="70000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50000" y="5900000"/>
            <a:ext cx="2700000" cy="250000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549955" y="6050000"/>
            <a:ext cx="1500090" cy="353943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2000" b="1" dirty="0">
                <a:solidFill>
                  <a:srgbClr val="002060"/>
                </a:solidFill>
                <a:latin typeface="Calibri"/>
              </a:rPr>
              <a:t>Applications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00" y="6620000"/>
            <a:ext cx="2460000" cy="105926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lnSpc>
                <a:spcPct val="125000"/>
              </a:lnSpc>
            </a:pPr>
            <a:r>
              <a:rPr dirty="0">
                <a:solidFill>
                  <a:srgbClr val="222D4A"/>
                </a:solidFill>
                <a:latin typeface="Calibri"/>
              </a:rPr>
              <a:t>Diagnostics, drug discovery, single-cell biology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43999BA-C434-BE59-D294-70AD70E67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6067" y="972821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9671388"/>
            <a:ext cx="12919442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STATE OF THE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Calibr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0458" y="461861"/>
            <a:ext cx="14836289" cy="385367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Calibri"/>
              </a:rPr>
              <a:t>HORIBA OPENPLEX — PRISM-BASED SPRi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1100000"/>
            <a:ext cx="6800000" cy="5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02060"/>
                </a:solidFill>
                <a:latin typeface="Calibri"/>
              </a:rPr>
              <a:t>Working 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" y="1620000"/>
            <a:ext cx="6800000" cy="152457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Kretschmann, fixed-angle SPRi on a functionalised biochip; large arrays in parallel.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Dual output: kinetic sensorgrams + a 2D SPRi difference image (bright = binding).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" y="3500000"/>
            <a:ext cx="6800000" cy="5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02060"/>
                </a:solidFill>
                <a:latin typeface="Calibri"/>
              </a:rPr>
              <a:t>Detection Cycle (A → 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00" y="4020000"/>
            <a:ext cx="6800000" cy="28357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A — Baseline: ligands immobilised on the biochip; no interaction, flat SPRi signal.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B — Association: sample injected → binding shifts the plasmon curve; reflectivity rises and interacting spots glow white in the difference image.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C — Dissociation: complexes dissociate as sample is washed out; reflectivity falls; spots darken in the difference image.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D — Regeneration: residual complexes stripped; plasmon curve returns to baseline. Limits: narrow dynamic range; LOD ~5 pg/mm² (10–50× weaker than MX96); small molecules need amplification; 200 µL sample.</a:t>
            </a:r>
          </a:p>
        </p:txBody>
      </p:sp>
      <p:pic>
        <p:nvPicPr>
          <p:cNvPr id="14" name="Picture 13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00" y="2400000"/>
            <a:ext cx="6900000" cy="24156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00000" y="4855619"/>
            <a:ext cx="6900000" cy="528093"/>
          </a:xfrm>
          <a:prstGeom prst="rect">
            <a:avLst/>
          </a:prstGeom>
          <a:noFill/>
        </p:spPr>
        <p:txBody>
          <a:bodyPr wrap="square" lIns="20000" tIns="0" rIns="2000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1" dirty="0">
                <a:solidFill>
                  <a:srgbClr val="6B7280"/>
                </a:solidFill>
                <a:latin typeface="Calibri"/>
              </a:rPr>
              <a:t>Fig. 9 — Horiba OpenPlex: prism-based SPRi instrument using Kretschmann configuration for parallel monitoring of label-free molecular interactions on a single biochip.</a:t>
            </a:r>
          </a:p>
        </p:txBody>
      </p:sp>
      <p:pic>
        <p:nvPicPr>
          <p:cNvPr id="17" name="Picture 6" descr="IIT Roorkee - Wikipedia">
            <a:extLst>
              <a:ext uri="{FF2B5EF4-FFF2-40B4-BE49-F238E27FC236}">
                <a16:creationId xmlns:a16="http://schemas.microsoft.com/office/drawing/2014/main" id="{05A5AD5F-EBFB-0F8C-DF38-A6D8B7570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6761" y="9728904"/>
            <a:ext cx="913012" cy="91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5014F5-B822-8DF6-7CC0-4A6EFF8ED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0961B2-2918-4207-A20B-5433AB69F1C6}"/>
              </a:ext>
            </a:extLst>
          </p:cNvPr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247296-F301-2B41-E221-09AA1F97EF60}"/>
              </a:ext>
            </a:extLst>
          </p:cNvPr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3B9619-DE28-8BC9-977B-2A5D988AE1A1}"/>
              </a:ext>
            </a:extLst>
          </p:cNvPr>
          <p:cNvSpPr/>
          <p:nvPr/>
        </p:nvSpPr>
        <p:spPr>
          <a:xfrm>
            <a:off x="0" y="9671388"/>
            <a:ext cx="12903864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595EE-0937-8978-0A7D-E9D03487A6C6}"/>
              </a:ext>
            </a:extLst>
          </p:cNvPr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STATE OF THE 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81DFA-FE5C-5DE7-A9C4-FD50CB1B935F}"/>
              </a:ext>
            </a:extLst>
          </p:cNvPr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C951B8-E028-5A2E-C5F9-2ED7C6970A55}"/>
              </a:ext>
            </a:extLst>
          </p:cNvPr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3600" b="1" dirty="0">
                <a:solidFill>
                  <a:srgbClr val="002060"/>
                </a:solidFill>
                <a:latin typeface="Calibri"/>
              </a:rPr>
              <a:t>0</a:t>
            </a:r>
            <a:r>
              <a:rPr lang="en-US" sz="3600" b="1" dirty="0">
                <a:solidFill>
                  <a:srgbClr val="002060"/>
                </a:solidFill>
                <a:latin typeface="Calibri"/>
              </a:rPr>
              <a:t>9</a:t>
            </a:r>
            <a:endParaRPr sz="36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597340-9F0E-06E4-3C1E-339C86F78127}"/>
              </a:ext>
            </a:extLst>
          </p:cNvPr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E07634-F660-D944-283A-3E69D66C281D}"/>
              </a:ext>
            </a:extLst>
          </p:cNvPr>
          <p:cNvSpPr txBox="1"/>
          <p:nvPr/>
        </p:nvSpPr>
        <p:spPr>
          <a:xfrm>
            <a:off x="120458" y="485267"/>
            <a:ext cx="4600871" cy="338554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r>
              <a:rPr lang="en-US" sz="2200" b="1" dirty="0">
                <a:solidFill>
                  <a:schemeClr val="bg2"/>
                </a:solidFill>
                <a:ea typeface="Aptos Display" pitchFamily="34" charset="-122"/>
                <a:cs typeface="Aptos Display" pitchFamily="34" charset="-120"/>
              </a:rPr>
              <a:t>SPR MICROSCOPY — THE BI SPRM 200</a:t>
            </a:r>
            <a:endParaRPr lang="en-US" sz="2200" dirty="0">
              <a:solidFill>
                <a:schemeClr val="bg2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1DCC944-E16D-6FF7-8FEA-18DE8DCD9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6067" y="9728210"/>
            <a:ext cx="914400" cy="914400"/>
          </a:xfrm>
          <a:prstGeom prst="rect">
            <a:avLst/>
          </a:prstGeom>
        </p:spPr>
      </p:pic>
      <p:pic>
        <p:nvPicPr>
          <p:cNvPr id="33" name="Image 1" descr="C:\Users\mnbor\OneDrive\Desktop\New folder (2)\sprm-200-surface-plasmon-resonance-microscopy-3925482-400x300.convert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758" y="2325490"/>
            <a:ext cx="4197096" cy="2770632"/>
          </a:xfrm>
          <a:prstGeom prst="rect">
            <a:avLst/>
          </a:prstGeom>
        </p:spPr>
      </p:pic>
      <p:sp>
        <p:nvSpPr>
          <p:cNvPr id="35" name="Text 10"/>
          <p:cNvSpPr/>
          <p:nvPr/>
        </p:nvSpPr>
        <p:spPr>
          <a:xfrm>
            <a:off x="879354" y="5240445"/>
            <a:ext cx="4105656" cy="527018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1F6FB2"/>
                </a:solidFill>
              </a:rPr>
              <a:t>Fig. 8 — BI SPRm 200 surface plasmon resonance microscopy system.</a:t>
            </a:r>
            <a:endParaRPr lang="en-US" dirty="0"/>
          </a:p>
        </p:txBody>
      </p:sp>
      <p:sp>
        <p:nvSpPr>
          <p:cNvPr id="36" name="Shape 11"/>
          <p:cNvSpPr/>
          <p:nvPr/>
        </p:nvSpPr>
        <p:spPr>
          <a:xfrm>
            <a:off x="5191126" y="2499226"/>
            <a:ext cx="4629150" cy="2423160"/>
          </a:xfrm>
          <a:prstGeom prst="roundRect">
            <a:avLst>
              <a:gd name="adj" fmla="val 1887"/>
            </a:avLst>
          </a:prstGeom>
          <a:solidFill>
            <a:srgbClr val="FCFDFF"/>
          </a:solidFill>
          <a:ln w="10160">
            <a:solidFill>
              <a:srgbClr val="C8D7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12"/>
          <p:cNvSpPr/>
          <p:nvPr/>
        </p:nvSpPr>
        <p:spPr>
          <a:xfrm>
            <a:off x="5291708" y="2499226"/>
            <a:ext cx="4234903" cy="78789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3A73"/>
                </a:solidFill>
              </a:rPr>
              <a:t>Working Mechanism &amp; Pioneering Technology</a:t>
            </a:r>
            <a:endParaRPr lang="en-US" sz="2200" dirty="0"/>
          </a:p>
        </p:txBody>
      </p:sp>
      <p:sp>
        <p:nvSpPr>
          <p:cNvPr id="38" name="Text 13"/>
          <p:cNvSpPr/>
          <p:nvPr/>
        </p:nvSpPr>
        <p:spPr>
          <a:xfrm>
            <a:off x="5291708" y="3503340"/>
            <a:ext cx="4787707" cy="1709928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The BI SPRm 200 is the world's first commercial Surface Plasmon Resonance Microscopy (SPRM) system, integrating label-free SPR with high-resolution bright-field optical microscopy.</a:t>
            </a:r>
            <a:endParaRPr lang="en-US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15DFFBF2-C525-B891-B5FB-43917FD47C94}"/>
              </a:ext>
            </a:extLst>
          </p:cNvPr>
          <p:cNvSpPr/>
          <p:nvPr/>
        </p:nvSpPr>
        <p:spPr>
          <a:xfrm>
            <a:off x="10859924" y="2664202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84AFAB37-B3A2-C436-5A13-ED2E744BF9CD}"/>
              </a:ext>
            </a:extLst>
          </p:cNvPr>
          <p:cNvSpPr/>
          <p:nvPr/>
        </p:nvSpPr>
        <p:spPr>
          <a:xfrm>
            <a:off x="10372725" y="3029962"/>
            <a:ext cx="4396625" cy="1709928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941B338F-7F4E-1D97-4A2A-A390E7D3B617}"/>
              </a:ext>
            </a:extLst>
          </p:cNvPr>
          <p:cNvSpPr/>
          <p:nvPr/>
        </p:nvSpPr>
        <p:spPr>
          <a:xfrm>
            <a:off x="350000" y="6516288"/>
            <a:ext cx="6446520" cy="2514600"/>
          </a:xfrm>
          <a:prstGeom prst="roundRect">
            <a:avLst>
              <a:gd name="adj" fmla="val 1818"/>
            </a:avLst>
          </a:prstGeom>
          <a:solidFill>
            <a:srgbClr val="FCFDFF"/>
          </a:solidFill>
          <a:ln w="10160">
            <a:solidFill>
              <a:srgbClr val="C8D7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2BE7269E-D3EA-F14A-846B-EAF2653AEC7E}"/>
              </a:ext>
            </a:extLst>
          </p:cNvPr>
          <p:cNvSpPr/>
          <p:nvPr/>
        </p:nvSpPr>
        <p:spPr>
          <a:xfrm>
            <a:off x="551168" y="6680880"/>
            <a:ext cx="6044184" cy="2743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A73"/>
                </a:solidFill>
              </a:rPr>
              <a:t>Advanced Optical Architecture</a:t>
            </a:r>
            <a:endParaRPr lang="en-US" sz="20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D6CBD464-AD75-044A-8A4A-7B2E3853281B}"/>
              </a:ext>
            </a:extLst>
          </p:cNvPr>
          <p:cNvSpPr/>
          <p:nvPr/>
        </p:nvSpPr>
        <p:spPr>
          <a:xfrm>
            <a:off x="551168" y="7046640"/>
            <a:ext cx="6044184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Built on a stable prism-coupled Kretschmann configuration; uses a 690 nm laser to excite surface plasmons and scans incident angles from 40° to 76°, while a blue LED captures cellular phenotypic changes.</a:t>
            </a:r>
            <a:endParaRPr lang="en-US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1D3F593B-41E2-6538-7AED-C0BBF917A0B6}"/>
              </a:ext>
            </a:extLst>
          </p:cNvPr>
          <p:cNvSpPr/>
          <p:nvPr/>
        </p:nvSpPr>
        <p:spPr>
          <a:xfrm>
            <a:off x="8322830" y="6516288"/>
            <a:ext cx="6446520" cy="2514600"/>
          </a:xfrm>
          <a:prstGeom prst="roundRect">
            <a:avLst>
              <a:gd name="adj" fmla="val 1818"/>
            </a:avLst>
          </a:prstGeom>
          <a:solidFill>
            <a:srgbClr val="F7FBFF"/>
          </a:solidFill>
          <a:ln w="10160">
            <a:solidFill>
              <a:srgbClr val="C8D7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A8D37269-1423-5375-749B-63AB4B3A4969}"/>
              </a:ext>
            </a:extLst>
          </p:cNvPr>
          <p:cNvSpPr/>
          <p:nvPr/>
        </p:nvSpPr>
        <p:spPr>
          <a:xfrm>
            <a:off x="8523998" y="6680880"/>
            <a:ext cx="6044184" cy="2743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3A73"/>
                </a:solidFill>
              </a:rPr>
              <a:t>Sub-Diffraction Nanoscale Detection</a:t>
            </a:r>
            <a:endParaRPr lang="en-US" sz="22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ED3AA9FE-7448-805F-C820-D7EBFC350719}"/>
              </a:ext>
            </a:extLst>
          </p:cNvPr>
          <p:cNvSpPr/>
          <p:nvPr/>
        </p:nvSpPr>
        <p:spPr>
          <a:xfrm>
            <a:off x="8523998" y="7046640"/>
            <a:ext cx="6044184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Tracks wake patterns generated when nanoparticles or pathogens act as scattering centers in plasmonic waves. These footprints appear up to 100× larger than particle size, enabling nanometer-scale binding and bacterial nanomotion monitoring.</a:t>
            </a:r>
            <a:endParaRPr lang="en-US" dirty="0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9C965923-C547-D876-B2A1-0D86399BF270}"/>
              </a:ext>
            </a:extLst>
          </p:cNvPr>
          <p:cNvSpPr/>
          <p:nvPr/>
        </p:nvSpPr>
        <p:spPr>
          <a:xfrm>
            <a:off x="10535200" y="2499226"/>
            <a:ext cx="4114800" cy="2423160"/>
          </a:xfrm>
          <a:prstGeom prst="roundRect">
            <a:avLst>
              <a:gd name="adj" fmla="val 1887"/>
            </a:avLst>
          </a:prstGeom>
          <a:solidFill>
            <a:srgbClr val="F7FBFF"/>
          </a:solidFill>
          <a:ln w="10160">
            <a:solidFill>
              <a:srgbClr val="C8D7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777B73D9-AE72-0AFD-F73C-930E5B6910B2}"/>
              </a:ext>
            </a:extLst>
          </p:cNvPr>
          <p:cNvSpPr/>
          <p:nvPr/>
        </p:nvSpPr>
        <p:spPr>
          <a:xfrm>
            <a:off x="10736368" y="266381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C5A33B07-91E4-58A9-B58C-4CF27AC0679B}"/>
              </a:ext>
            </a:extLst>
          </p:cNvPr>
          <p:cNvSpPr/>
          <p:nvPr/>
        </p:nvSpPr>
        <p:spPr>
          <a:xfrm>
            <a:off x="10631864" y="2678816"/>
            <a:ext cx="3913632" cy="215126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A high-performance CMOS camera captures localized binding kinetics across hundreds of regions of interest simultaneously, allowing real-time measurement directly on intact cell membranes in native physiological states.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355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ED7D951-FEA6-AE2D-E7F3-AE4EB53CC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8AD2F1-20A5-5E82-2532-C5307C79463D}"/>
              </a:ext>
            </a:extLst>
          </p:cNvPr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E58CE0-D313-8F92-AAE6-A0643327B7F7}"/>
              </a:ext>
            </a:extLst>
          </p:cNvPr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436F2D-AC32-4B68-41AA-0587C8A25757}"/>
              </a:ext>
            </a:extLst>
          </p:cNvPr>
          <p:cNvSpPr/>
          <p:nvPr/>
        </p:nvSpPr>
        <p:spPr>
          <a:xfrm>
            <a:off x="0" y="9671388"/>
            <a:ext cx="12903864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D30E1E-2AFD-8E41-605E-9C08D451683E}"/>
              </a:ext>
            </a:extLst>
          </p:cNvPr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STATE OF THE 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61ED8-FFF9-CE27-9DDC-7EE513B6EA78}"/>
              </a:ext>
            </a:extLst>
          </p:cNvPr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99BB8-916D-1E6B-5771-A90867A84AC4}"/>
              </a:ext>
            </a:extLst>
          </p:cNvPr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Calibri"/>
              </a:rPr>
              <a:t>1</a:t>
            </a:r>
            <a:r>
              <a:rPr sz="3600" b="1" dirty="0">
                <a:solidFill>
                  <a:srgbClr val="002060"/>
                </a:solidFill>
                <a:latin typeface="Calibri"/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02AFE5-48D9-CD12-6B07-0806C83DE37D}"/>
              </a:ext>
            </a:extLst>
          </p:cNvPr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981197-5461-D168-29E2-C526EC968105}"/>
              </a:ext>
            </a:extLst>
          </p:cNvPr>
          <p:cNvSpPr txBox="1"/>
          <p:nvPr/>
        </p:nvSpPr>
        <p:spPr>
          <a:xfrm>
            <a:off x="120458" y="485267"/>
            <a:ext cx="3196769" cy="338554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Calibri"/>
              </a:rPr>
              <a:t>SPRi — STATE OF THE ART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431A503-0A1E-38EB-48D2-A544519CC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6067" y="9728210"/>
            <a:ext cx="914400" cy="9144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79354" y="1322716"/>
            <a:ext cx="6446520" cy="3337560"/>
          </a:xfrm>
          <a:prstGeom prst="roundRect">
            <a:avLst>
              <a:gd name="adj" fmla="val 1370"/>
            </a:avLst>
          </a:prstGeom>
          <a:solidFill>
            <a:srgbClr val="FCFDFF"/>
          </a:solidFill>
          <a:ln w="10160">
            <a:solidFill>
              <a:srgbClr val="C8D7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080522" y="1487308"/>
            <a:ext cx="6044184" cy="2743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3A73"/>
                </a:solidFill>
              </a:rPr>
              <a:t>Disadvantages &amp; Technical Limitations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80522" y="1853068"/>
            <a:ext cx="6044184" cy="26243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High susceptibility to noise and data complexity: serum-like matrices cause background fluctuations, focal drift, and nonspecific adsorption; high-dimensional image datasets require intensive post-processing or machine-learning algorithms.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Steep learning curve: more optical alignment, scattering interpretation, and custom data pipelines than standard black-box SPR instruments.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7896357" y="1309646"/>
            <a:ext cx="6446520" cy="3337560"/>
          </a:xfrm>
          <a:prstGeom prst="roundRect">
            <a:avLst>
              <a:gd name="adj" fmla="val 1370"/>
            </a:avLst>
          </a:prstGeom>
          <a:solidFill>
            <a:srgbClr val="F7FBFF"/>
          </a:solidFill>
          <a:ln w="10160">
            <a:solidFill>
              <a:srgbClr val="C8D7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097525" y="1474238"/>
            <a:ext cx="6044184" cy="2743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3A73"/>
                </a:solidFill>
              </a:rPr>
              <a:t>Signal and Sample Constraints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097525" y="1839998"/>
            <a:ext cx="6044184" cy="26243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Weak intrinsic optical signals often require plasmonically active nanoparticles for enhancement.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Sample adherence constraints: cells must be grown or tethered directly onto the 50 nm gold-coated sensor chip because detection relies on the evanescent field at the interface.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68680" y="57150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3A73"/>
                </a:solidFill>
              </a:rPr>
              <a:t>Key Applications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58006" y="620659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3B36"/>
                </a:solidFill>
              </a:rPr>
              <a:t>▸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181735" y="6190702"/>
            <a:ext cx="12755880" cy="49377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Live-cell drug discovery: label-free binding kinetics on membrane proteins (GPCRs, ion channels) in native environment — addresses &gt;50% of drug targets.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60430" y="69296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3B36"/>
                </a:solidFill>
              </a:rPr>
              <a:t>▸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181735" y="6901138"/>
            <a:ext cx="127558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Single-cell heterogeneity mapping: per-cell affinity quantification for personalized medicine and resistant-subpopulation analysis.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58006" y="76715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3B36"/>
                </a:solidFill>
              </a:rPr>
              <a:t>▸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107954" y="7665955"/>
            <a:ext cx="12755880" cy="49377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Pathogen &amp; nanoparticle detection: single virus, exosome, and bacterial detection via plasmonic wake patterns; enables rapid antibiotic susceptibility testing.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868680" y="835401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3B36"/>
                </a:solidFill>
              </a:rPr>
              <a:t>▸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160662" y="8354018"/>
            <a:ext cx="12755880" cy="49377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Therapeutic antibody characterization: direct measurement on live cells (e.g., Rituximab–CD20, anti-HER2) — bridges purified-protein SPR and cell-based functional assays.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629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7B016A-5624-E4EE-1E53-0D446C30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BE1D2-6ACA-1D4D-E7CA-9ADC07B34EF6}"/>
              </a:ext>
            </a:extLst>
          </p:cNvPr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ABBF22-0F3D-9B30-1925-8F6C994F8F50}"/>
              </a:ext>
            </a:extLst>
          </p:cNvPr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A2E104-D1A5-3299-1227-9DF8570C1A0E}"/>
              </a:ext>
            </a:extLst>
          </p:cNvPr>
          <p:cNvSpPr/>
          <p:nvPr/>
        </p:nvSpPr>
        <p:spPr>
          <a:xfrm>
            <a:off x="0" y="9671388"/>
            <a:ext cx="12903864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973FD-14B1-62D8-FD8D-C31C378116D8}"/>
              </a:ext>
            </a:extLst>
          </p:cNvPr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STATE OF THE 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210F4B-6DE2-275D-1578-EF74038D65E3}"/>
              </a:ext>
            </a:extLst>
          </p:cNvPr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45C3C0-0BA0-3E8A-F12C-3CF174636C3C}"/>
              </a:ext>
            </a:extLst>
          </p:cNvPr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Calibri"/>
              </a:rPr>
              <a:t>10</a:t>
            </a:r>
            <a:endParaRPr sz="36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4B30F4-F56B-4AF7-6C03-4710073BA9A6}"/>
              </a:ext>
            </a:extLst>
          </p:cNvPr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B0EC07-DF00-177B-B6A6-A6CD12447A81}"/>
              </a:ext>
            </a:extLst>
          </p:cNvPr>
          <p:cNvSpPr txBox="1"/>
          <p:nvPr/>
        </p:nvSpPr>
        <p:spPr>
          <a:xfrm>
            <a:off x="120458" y="485267"/>
            <a:ext cx="5451552" cy="338554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CARTERRA HIGH-THROUGHPUT DPR (HT-SPR)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6391DF1-C685-C715-427B-A63EEE6FC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6067" y="9728210"/>
            <a:ext cx="914400" cy="914400"/>
          </a:xfrm>
          <a:prstGeom prst="rect">
            <a:avLst/>
          </a:prstGeom>
        </p:spPr>
      </p:pic>
      <p:sp>
        <p:nvSpPr>
          <p:cNvPr id="12" name="Shape 9">
            <a:extLst>
              <a:ext uri="{FF2B5EF4-FFF2-40B4-BE49-F238E27FC236}">
                <a16:creationId xmlns:a16="http://schemas.microsoft.com/office/drawing/2014/main" id="{D624AFC8-3A0D-FA5F-B5E1-35FCFF146B2A}"/>
              </a:ext>
            </a:extLst>
          </p:cNvPr>
          <p:cNvSpPr/>
          <p:nvPr/>
        </p:nvSpPr>
        <p:spPr>
          <a:xfrm>
            <a:off x="868680" y="1828800"/>
            <a:ext cx="5303520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0160">
            <a:solidFill>
              <a:srgbClr val="C8D7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C:\Users\mnbor\OneDrive\Desktop\New folder (2)\LSA-XT-rendering.converted.png">
            <a:extLst>
              <a:ext uri="{FF2B5EF4-FFF2-40B4-BE49-F238E27FC236}">
                <a16:creationId xmlns:a16="http://schemas.microsoft.com/office/drawing/2014/main" id="{BD58094A-667B-428A-5E04-053F99CBC6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7552" y="1947672"/>
            <a:ext cx="5065776" cy="2999232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9DA474DC-A78B-AB7D-3CCE-00F205E369C8}"/>
              </a:ext>
            </a:extLst>
          </p:cNvPr>
          <p:cNvSpPr/>
          <p:nvPr/>
        </p:nvSpPr>
        <p:spPr>
          <a:xfrm>
            <a:off x="1033272" y="5047488"/>
            <a:ext cx="4974336" cy="31089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1F6FB2"/>
                </a:solidFill>
              </a:rPr>
              <a:t>Fig. 10 — Carterra LSA-XT high-throughput SPR platform.</a:t>
            </a:r>
            <a:endParaRPr lang="en-US" sz="16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CC50C1D-03B8-F455-45E6-AA26909A8A00}"/>
              </a:ext>
            </a:extLst>
          </p:cNvPr>
          <p:cNvSpPr/>
          <p:nvPr/>
        </p:nvSpPr>
        <p:spPr>
          <a:xfrm>
            <a:off x="6537960" y="18288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3A73"/>
                </a:solidFill>
              </a:rPr>
              <a:t>Working Principles</a:t>
            </a:r>
            <a:endParaRPr lang="en-US" sz="2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494B01CD-964D-5823-B060-456EB1E22F80}"/>
              </a:ext>
            </a:extLst>
          </p:cNvPr>
          <p:cNvSpPr/>
          <p:nvPr/>
        </p:nvSpPr>
        <p:spPr>
          <a:xfrm>
            <a:off x="6537960" y="25352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3B36"/>
                </a:solidFill>
              </a:rPr>
              <a:t>▸</a:t>
            </a:r>
            <a:endParaRPr lang="en-US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02CC68B-F5BF-A318-FBBC-30B475DC714C}"/>
              </a:ext>
            </a:extLst>
          </p:cNvPr>
          <p:cNvSpPr/>
          <p:nvPr/>
        </p:nvSpPr>
        <p:spPr>
          <a:xfrm>
            <a:off x="6766560" y="2526072"/>
            <a:ext cx="6903720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Dual-mode microfluidics &amp; SPRi: integrates SPR imaging with Continuous Flow Microspotting.</a:t>
            </a:r>
            <a:endParaRPr lang="en-US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A3E3944-E88F-F546-D58B-32A9BFCCAFD4}"/>
              </a:ext>
            </a:extLst>
          </p:cNvPr>
          <p:cNvSpPr/>
          <p:nvPr/>
        </p:nvSpPr>
        <p:spPr>
          <a:xfrm>
            <a:off x="6537960" y="3076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3B36"/>
                </a:solidFill>
              </a:rPr>
              <a:t>▸</a:t>
            </a:r>
            <a:endParaRPr lang="en-US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F95387C-A382-DBB0-D795-6941EBA29A68}"/>
              </a:ext>
            </a:extLst>
          </p:cNvPr>
          <p:cNvSpPr/>
          <p:nvPr/>
        </p:nvSpPr>
        <p:spPr>
          <a:xfrm>
            <a:off x="6766560" y="3067232"/>
            <a:ext cx="6903720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Array fabrication: 96-channel printhead forms isolated micro-channels and immobilizes up to 384 active ligand spots.</a:t>
            </a:r>
            <a:endParaRPr lang="en-US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9AA779E-42FD-E099-F3E3-D0A109128276}"/>
              </a:ext>
            </a:extLst>
          </p:cNvPr>
          <p:cNvSpPr/>
          <p:nvPr/>
        </p:nvSpPr>
        <p:spPr>
          <a:xfrm>
            <a:off x="6537960" y="3634823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3B36"/>
                </a:solidFill>
              </a:rPr>
              <a:t>▸</a:t>
            </a:r>
            <a:endParaRPr lang="en-US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EC6CC459-AEA9-FB09-146F-B433C9DD14E2}"/>
              </a:ext>
            </a:extLst>
          </p:cNvPr>
          <p:cNvSpPr/>
          <p:nvPr/>
        </p:nvSpPr>
        <p:spPr>
          <a:xfrm>
            <a:off x="6766560" y="3625679"/>
            <a:ext cx="6903720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One-on-many analyte delivery: a Single Flow Cell delivers a pulse-free analyte stream across the 384-spot array simultaneously.</a:t>
            </a:r>
            <a:endParaRPr lang="en-US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D368F212-80C3-4D20-175B-6C7A405CC0C8}"/>
              </a:ext>
            </a:extLst>
          </p:cNvPr>
          <p:cNvSpPr/>
          <p:nvPr/>
        </p:nvSpPr>
        <p:spPr>
          <a:xfrm>
            <a:off x="6537960" y="4494359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3B36"/>
                </a:solidFill>
              </a:rPr>
              <a:t>▸</a:t>
            </a:r>
            <a:endParaRPr lang="en-US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D26F3B9-2F22-6392-CC30-421DC3B3050D}"/>
              </a:ext>
            </a:extLst>
          </p:cNvPr>
          <p:cNvSpPr/>
          <p:nvPr/>
        </p:nvSpPr>
        <p:spPr>
          <a:xfrm>
            <a:off x="6766560" y="4485215"/>
            <a:ext cx="6903720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Bidirectional flow: reagents cycle back and forth, preventing denaturation, reducing sample consumption, and allowing extended contact times.</a:t>
            </a:r>
            <a:endParaRPr lang="en-US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7C8EB4D9-DA08-98EB-4DE7-95C9F82EF9FB}"/>
              </a:ext>
            </a:extLst>
          </p:cNvPr>
          <p:cNvSpPr/>
          <p:nvPr/>
        </p:nvSpPr>
        <p:spPr>
          <a:xfrm>
            <a:off x="868680" y="58978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3A73"/>
                </a:solidFill>
              </a:rPr>
              <a:t>Key Applications</a:t>
            </a:r>
            <a:endParaRPr lang="en-US" sz="22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8F65D64B-53EC-F7E1-2A6A-4B36055085FF}"/>
              </a:ext>
            </a:extLst>
          </p:cNvPr>
          <p:cNvSpPr/>
          <p:nvPr/>
        </p:nvSpPr>
        <p:spPr>
          <a:xfrm>
            <a:off x="879354" y="64727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3B36"/>
                </a:solidFill>
              </a:rPr>
              <a:t>▸</a:t>
            </a:r>
            <a:endParaRPr lang="en-US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B27F5D07-8280-A248-FA32-34D194F50EEA}"/>
              </a:ext>
            </a:extLst>
          </p:cNvPr>
          <p:cNvSpPr/>
          <p:nvPr/>
        </p:nvSpPr>
        <p:spPr>
          <a:xfrm>
            <a:off x="1097280" y="6335687"/>
            <a:ext cx="12755880" cy="49377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High-throughput kinetics &amp; affinity: simultaneous kinetic analysis of up to 1,152 antibodies in one unattended run.</a:t>
            </a:r>
            <a:endParaRPr lang="en-US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1BDA8227-7B6B-D7AF-521B-605B2C29186D}"/>
              </a:ext>
            </a:extLst>
          </p:cNvPr>
          <p:cNvSpPr/>
          <p:nvPr/>
        </p:nvSpPr>
        <p:spPr>
          <a:xfrm>
            <a:off x="879354" y="68905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3B36"/>
                </a:solidFill>
              </a:rPr>
              <a:t>▸</a:t>
            </a:r>
            <a:endParaRPr lang="en-US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88C280F2-2962-BC1D-A695-4DDD492436C8}"/>
              </a:ext>
            </a:extLst>
          </p:cNvPr>
          <p:cNvSpPr/>
          <p:nvPr/>
        </p:nvSpPr>
        <p:spPr>
          <a:xfrm>
            <a:off x="1097280" y="6784848"/>
            <a:ext cx="12755880" cy="49377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Large-scale epitope binning: automates sandwich and premix binning in a 384×384 pairwise format, testing up to 147,456 interactions.</a:t>
            </a:r>
            <a:endParaRPr lang="en-US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29E485CC-EC77-3199-A483-9F5BB6A2190F}"/>
              </a:ext>
            </a:extLst>
          </p:cNvPr>
          <p:cNvSpPr/>
          <p:nvPr/>
        </p:nvSpPr>
        <p:spPr>
          <a:xfrm>
            <a:off x="879354" y="7366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3B36"/>
                </a:solidFill>
              </a:rPr>
              <a:t>▸</a:t>
            </a:r>
            <a:endParaRPr lang="en-US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DB21C83A-3B54-16D2-48C8-7E6D747CA22A}"/>
              </a:ext>
            </a:extLst>
          </p:cNvPr>
          <p:cNvSpPr/>
          <p:nvPr/>
        </p:nvSpPr>
        <p:spPr>
          <a:xfrm>
            <a:off x="1097280" y="7260336"/>
            <a:ext cx="12755880" cy="49377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433"/>
                </a:solidFill>
              </a:rPr>
              <a:t>Complex target &amp; biomarker screening: GPCRs, ion channels, FcγR binding profiles, and DNA Encoded Library fragment screening.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209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71388"/>
            <a:ext cx="12919442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STATE OF THE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3600" b="1">
                <a:solidFill>
                  <a:srgbClr val="002060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0458" y="461861"/>
            <a:ext cx="14836289" cy="385367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Calibri"/>
              </a:rPr>
              <a:t>CS-SPRi — THE TEMPORAL-RESOLUTION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1100000"/>
            <a:ext cx="14300000" cy="4028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 dirty="0">
                <a:solidFill>
                  <a:srgbClr val="002060"/>
                </a:solidFill>
                <a:latin typeface="Calibri"/>
              </a:rPr>
              <a:t>Why conventional SPRi cannot reach microsecond timescales — and the hardware tradeoffs that lock it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00" y="1750000"/>
            <a:ext cx="4600000" cy="3200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000" y="1750000"/>
            <a:ext cx="4600000" cy="120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000" y="1950000"/>
            <a:ext cx="2238498" cy="384721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l"/>
            <a:r>
              <a:rPr sz="2200" b="1" dirty="0">
                <a:solidFill>
                  <a:srgbClr val="6B7280"/>
                </a:solidFill>
                <a:latin typeface="Calibri"/>
              </a:rPr>
              <a:t>Conventional Strengths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0" y="2550000"/>
            <a:ext cx="4360000" cy="1185709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Real-time, label-free, in-situ image detection.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High spatial resolution + high sensitivity in biosensing &amp; chemical sensing.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Every camera pixel acts as an independent reflectivity sensor.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0000" y="1750000"/>
            <a:ext cx="4600000" cy="3200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00000" y="1750000"/>
            <a:ext cx="4600000" cy="12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20000" y="1950000"/>
            <a:ext cx="2452400" cy="323165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b="1" dirty="0">
                <a:solidFill>
                  <a:srgbClr val="002060"/>
                </a:solidFill>
                <a:latin typeface="Calibri"/>
              </a:rPr>
              <a:t>The Hardware Tradeoff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0000" y="2550000"/>
            <a:ext cx="4360000" cy="222625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Three-way conflict: frame rate </a:t>
            </a:r>
            <a:r>
              <a:rPr lang="en-IN" dirty="0">
                <a:solidFill>
                  <a:srgbClr val="222D4A"/>
                </a:solidFill>
                <a:latin typeface="Calibri"/>
              </a:rPr>
              <a:t>,</a:t>
            </a:r>
            <a:r>
              <a:rPr dirty="0">
                <a:solidFill>
                  <a:srgbClr val="222D4A"/>
                </a:solidFill>
                <a:latin typeface="Calibri"/>
              </a:rPr>
              <a:t> spatial resolution</a:t>
            </a:r>
            <a:r>
              <a:rPr lang="en-IN" dirty="0">
                <a:solidFill>
                  <a:srgbClr val="222D4A"/>
                </a:solidFill>
                <a:latin typeface="Calibri"/>
              </a:rPr>
              <a:t>,</a:t>
            </a:r>
            <a:r>
              <a:rPr dirty="0">
                <a:solidFill>
                  <a:srgbClr val="222D4A"/>
                </a:solidFill>
                <a:latin typeface="Calibri"/>
              </a:rPr>
              <a:t> sensitivity.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Higher frame rate → pixel resolution must be sacrificed</a:t>
            </a:r>
            <a:r>
              <a:rPr lang="en-US" dirty="0">
                <a:solidFill>
                  <a:srgbClr val="222D4A"/>
                </a:solidFill>
                <a:latin typeface="Calibri"/>
              </a:rPr>
              <a:t>.</a:t>
            </a:r>
            <a:endParaRPr dirty="0">
              <a:solidFill>
                <a:srgbClr val="222D4A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Shorter exposure → fewer photons per frame → SNR collapses.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0000" y="1750000"/>
            <a:ext cx="4600000" cy="3200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98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0000" y="1750000"/>
            <a:ext cx="4600000" cy="120000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70000" y="1950000"/>
            <a:ext cx="1865447" cy="353943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l"/>
            <a:r>
              <a:rPr sz="2000" b="1" dirty="0">
                <a:solidFill>
                  <a:srgbClr val="C98A1B"/>
                </a:solidFill>
                <a:latin typeface="Calibri"/>
              </a:rPr>
              <a:t>The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0000" y="2550000"/>
            <a:ext cx="4360000" cy="1185709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Hardware ceiling pins typical SPRi cameras at only a few Hz at full resolution.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Microsecond dynamics — EDLs, ion polarization — stay invisible.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Faster cameras exist, but cost, ROI &amp; SNR penalties rule them out.</a:t>
            </a:r>
          </a:p>
        </p:txBody>
      </p:sp>
      <p:pic>
        <p:nvPicPr>
          <p:cNvPr id="27" name="Picture 6" descr="IIT Roorkee - Wikipedia">
            <a:extLst>
              <a:ext uri="{FF2B5EF4-FFF2-40B4-BE49-F238E27FC236}">
                <a16:creationId xmlns:a16="http://schemas.microsoft.com/office/drawing/2014/main" id="{344BD7DB-6744-3349-9CCC-6C82EC7DB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6761" y="9728904"/>
            <a:ext cx="913012" cy="91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350000" y="5583845"/>
            <a:ext cx="7600000" cy="4028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02060"/>
                </a:solidFill>
                <a:latin typeface="Calibri"/>
              </a:rPr>
              <a:t>Working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999" y="6520039"/>
            <a:ext cx="14299999" cy="155022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b="0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▸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 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libri body"/>
              </a:rPr>
              <a:t>CS is a framework that allows signals to be recovered at sampling rates.</a:t>
            </a:r>
            <a:endParaRPr lang="en-IN" b="0" dirty="0">
              <a:solidFill>
                <a:schemeClr val="tx2">
                  <a:lumMod val="50000"/>
                </a:schemeClr>
              </a:solidFill>
              <a:latin typeface="Calibri body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lang="en-IN" dirty="0">
                <a:solidFill>
                  <a:srgbClr val="222D4A"/>
                </a:solidFill>
                <a:latin typeface="Calibri body"/>
              </a:rPr>
              <a:t>▸</a:t>
            </a:r>
            <a:r>
              <a:rPr b="0" dirty="0">
                <a:solidFill>
                  <a:srgbClr val="222D4A"/>
                </a:solidFill>
                <a:latin typeface="Calibri body"/>
              </a:rPr>
              <a:t>  CS recovers a signal below the Nyquist rate when it is sparse in some basis — applied here to fast SPRi reflectivity transients.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b="0" dirty="0">
                <a:solidFill>
                  <a:srgbClr val="222D4A"/>
                </a:solidFill>
                <a:latin typeface="Calibri body"/>
              </a:rPr>
              <a:t>▸  A custom FPGA gates camera exposure on a quasi-Bernoulli matrix Φ — converting an unaffordable temporal sampling problem into a solvable inverse problem.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71388"/>
            <a:ext cx="12919442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STATE OF THE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3600" b="1">
                <a:solidFill>
                  <a:srgbClr val="002060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0458" y="461861"/>
            <a:ext cx="14836289" cy="385367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CS-SPRi — THE COMPRESSED-SENSING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" y="1234022"/>
            <a:ext cx="7600000" cy="4028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02060"/>
                </a:solidFill>
                <a:latin typeface="Calibri"/>
              </a:rPr>
              <a:t>Pipeline Steps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013766"/>
              </p:ext>
            </p:extLst>
          </p:nvPr>
        </p:nvGraphicFramePr>
        <p:xfrm>
          <a:off x="350000" y="2275096"/>
          <a:ext cx="7600000" cy="3295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1" dirty="0">
                          <a:solidFill>
                            <a:srgbClr val="222D4A"/>
                          </a:solidFill>
                          <a:latin typeface="Calibri"/>
                        </a:rPr>
                        <a:t>1. Measurement matrix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0" dirty="0">
                          <a:solidFill>
                            <a:srgbClr val="222D4A"/>
                          </a:solidFill>
                          <a:latin typeface="Calibri"/>
                        </a:rPr>
                        <a:t>FPGA generates quasi-Bernoulli Φ </a:t>
                      </a:r>
                      <a:r>
                        <a:rPr lang="en-IN" sz="1800" dirty="0"/>
                        <a:t>— rows=cycles, cols=time bins</a:t>
                      </a:r>
                      <a:endParaRPr sz="1800" b="0" dirty="0">
                        <a:solidFill>
                          <a:srgbClr val="222D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61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1">
                          <a:solidFill>
                            <a:srgbClr val="222D4A"/>
                          </a:solidFill>
                          <a:latin typeface="Calibri"/>
                        </a:rPr>
                        <a:t>2. Gated exposure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0" dirty="0">
                          <a:solidFill>
                            <a:srgbClr val="222D4A"/>
                          </a:solidFill>
                          <a:latin typeface="Calibri"/>
                        </a:rPr>
                        <a:t>Camera captures frames only where Φ = 1; intensities are summed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1">
                          <a:solidFill>
                            <a:srgbClr val="222D4A"/>
                          </a:solidFill>
                          <a:latin typeface="Calibri"/>
                        </a:rPr>
                        <a:t>3. Compression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0" dirty="0">
                          <a:solidFill>
                            <a:srgbClr val="222D4A"/>
                          </a:solidFill>
                          <a:latin typeface="Calibri"/>
                        </a:rPr>
                        <a:t>Result: a compressed vector y = </a:t>
                      </a:r>
                      <a:r>
                        <a:rPr sz="1800" b="0" dirty="0" err="1">
                          <a:solidFill>
                            <a:srgbClr val="222D4A"/>
                          </a:solidFill>
                          <a:latin typeface="Calibri"/>
                        </a:rPr>
                        <a:t>Φx</a:t>
                      </a:r>
                      <a:r>
                        <a:rPr sz="1800" b="0" dirty="0">
                          <a:solidFill>
                            <a:srgbClr val="222D4A"/>
                          </a:solidFill>
                          <a:latin typeface="Calibri"/>
                        </a:rPr>
                        <a:t>, far below Nyquist rate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1" dirty="0">
                          <a:solidFill>
                            <a:srgbClr val="222D4A"/>
                          </a:solidFill>
                          <a:latin typeface="Calibri"/>
                        </a:rPr>
                        <a:t>4. Reconstruction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0" dirty="0">
                          <a:solidFill>
                            <a:srgbClr val="222D4A"/>
                          </a:solidFill>
                          <a:latin typeface="Calibri"/>
                        </a:rPr>
                        <a:t>Redundant dictionary (EDL ladder-circuit model) recovers x̂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" name="Picture 17" descr="figur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1080000"/>
            <a:ext cx="6700000" cy="481512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00000" y="5935122"/>
            <a:ext cx="6700000" cy="798937"/>
          </a:xfrm>
          <a:prstGeom prst="rect">
            <a:avLst/>
          </a:prstGeom>
          <a:noFill/>
        </p:spPr>
        <p:txBody>
          <a:bodyPr wrap="square" lIns="20000" tIns="0" rIns="2000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i="1" dirty="0">
                <a:solidFill>
                  <a:srgbClr val="6B7280"/>
                </a:solidFill>
                <a:latin typeface="Calibri"/>
              </a:rPr>
              <a:t>Fig. 10 — CS-SPRi pipeline: an FPGA controller gates the camera exposure on a quasi-Bernoulli matrix Φ; the compressed measurement y = </a:t>
            </a:r>
            <a:r>
              <a:rPr sz="1600" i="1" dirty="0" err="1">
                <a:solidFill>
                  <a:srgbClr val="6B7280"/>
                </a:solidFill>
                <a:latin typeface="Calibri"/>
              </a:rPr>
              <a:t>Φx</a:t>
            </a:r>
            <a:r>
              <a:rPr sz="1600" i="1" dirty="0">
                <a:solidFill>
                  <a:srgbClr val="6B7280"/>
                </a:solidFill>
                <a:latin typeface="Calibri"/>
              </a:rPr>
              <a:t> is inverted with a redundant dictionary built from an EDL ladder-circuit model.</a:t>
            </a:r>
          </a:p>
        </p:txBody>
      </p:sp>
      <p:pic>
        <p:nvPicPr>
          <p:cNvPr id="20" name="Picture 6" descr="IIT Roorkee - Wikipedia">
            <a:extLst>
              <a:ext uri="{FF2B5EF4-FFF2-40B4-BE49-F238E27FC236}">
                <a16:creationId xmlns:a16="http://schemas.microsoft.com/office/drawing/2014/main" id="{A043653E-4746-A9C4-C929-6599C1098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6761" y="9728904"/>
            <a:ext cx="913012" cy="91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EC87A-E845-ECD9-5F8B-E13D4E5F0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5942AF-EC89-C3F1-4BE2-46F8AED7A9F6}"/>
              </a:ext>
            </a:extLst>
          </p:cNvPr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9B27E6-F6DD-9DBB-3240-7DF70DA45E6C}"/>
              </a:ext>
            </a:extLst>
          </p:cNvPr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03B437-10AE-C372-370A-50E1683C9875}"/>
              </a:ext>
            </a:extLst>
          </p:cNvPr>
          <p:cNvSpPr/>
          <p:nvPr/>
        </p:nvSpPr>
        <p:spPr>
          <a:xfrm>
            <a:off x="0" y="9671388"/>
            <a:ext cx="12919442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AB9DD9-B9AA-C354-7B60-44E4758D8823}"/>
              </a:ext>
            </a:extLst>
          </p:cNvPr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STATE OF THE 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E36FA-FC13-0CC1-A4A9-D509623A467F}"/>
              </a:ext>
            </a:extLst>
          </p:cNvPr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D9C3C8-3A61-EB9A-B96A-3660B1F98FF8}"/>
              </a:ext>
            </a:extLst>
          </p:cNvPr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Calibri"/>
              </a:rPr>
              <a:t>09</a:t>
            </a:r>
            <a:endParaRPr sz="36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892211-0F7B-D24E-CCF9-6DE48E05EBA3}"/>
              </a:ext>
            </a:extLst>
          </p:cNvPr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AC9AF6-B67A-823E-1ACF-8ED364824EF6}"/>
              </a:ext>
            </a:extLst>
          </p:cNvPr>
          <p:cNvSpPr txBox="1"/>
          <p:nvPr/>
        </p:nvSpPr>
        <p:spPr>
          <a:xfrm>
            <a:off x="120458" y="485267"/>
            <a:ext cx="2262730" cy="338554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Calibri"/>
              </a:rPr>
              <a:t>SPRi — </a:t>
            </a:r>
            <a:r>
              <a:rPr lang="en-US" sz="2200" b="1" dirty="0" err="1">
                <a:solidFill>
                  <a:srgbClr val="FFFFFF"/>
                </a:solidFill>
                <a:latin typeface="Calibri"/>
              </a:rPr>
              <a:t>Algorithim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3A1A7D-6331-19AE-4B61-3072F09DADA5}"/>
              </a:ext>
            </a:extLst>
          </p:cNvPr>
          <p:cNvSpPr txBox="1"/>
          <p:nvPr/>
        </p:nvSpPr>
        <p:spPr>
          <a:xfrm>
            <a:off x="350000" y="1234022"/>
            <a:ext cx="7600000" cy="4028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02060"/>
                </a:solidFill>
                <a:latin typeface="Calibri"/>
              </a:rPr>
              <a:t>Pipeline Steps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C27DF76-8ADB-CFB6-9BEC-54E1D0268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316382"/>
              </p:ext>
            </p:extLst>
          </p:nvPr>
        </p:nvGraphicFramePr>
        <p:xfrm>
          <a:off x="350000" y="2075265"/>
          <a:ext cx="14223250" cy="6487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84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42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00" b="1" dirty="0">
                          <a:solidFill>
                            <a:srgbClr val="222D4A"/>
                          </a:solidFill>
                          <a:latin typeface="Calibri"/>
                        </a:rPr>
                        <a:t>1. </a:t>
                      </a:r>
                      <a:r>
                        <a:rPr lang="en-US" sz="1800" b="1" dirty="0">
                          <a:solidFill>
                            <a:srgbClr val="222D4A"/>
                          </a:solidFill>
                          <a:latin typeface="Calibri"/>
                        </a:rPr>
                        <a:t>Background Subtraction</a:t>
                      </a:r>
                      <a:endParaRPr sz="1800" b="1" dirty="0">
                        <a:solidFill>
                          <a:srgbClr val="222D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Compares the current sensor frame to a baseline reference frame pixel-by-pixel.</a:t>
                      </a:r>
                      <a:br>
                        <a:rPr lang="en-IN" sz="1800" dirty="0"/>
                      </a:b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Calculates the dip depth: .</a:t>
                      </a:r>
                      <a:br>
                        <a:rPr lang="en-IN" sz="1800" dirty="0"/>
                      </a:b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Identifies the dip region with an 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overflow_flag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(asserted if ).</a:t>
                      </a:r>
                      <a:br>
                        <a:rPr lang="en-IN" sz="1800" dirty="0"/>
                      </a:b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 </a:t>
                      </a: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Latency: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1 clock cycle per pixel (fully pipelined).</a:t>
                      </a:r>
                      <a:endParaRPr sz="1800" b="0" dirty="0">
                        <a:solidFill>
                          <a:srgbClr val="222D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42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Centroid Accumulation</a:t>
                      </a:r>
                      <a:endParaRPr sz="1800" b="1" dirty="0">
                        <a:solidFill>
                          <a:srgbClr val="222D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Sequentially sums the weighted pixel indices across the 1024-pixel frame.</a:t>
                      </a:r>
                      <a:br>
                        <a:rPr lang="en-IN" sz="1800" dirty="0"/>
                      </a:b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Accumulates the weighted index:  (32-bit register).</a:t>
                      </a:r>
                      <a:br>
                        <a:rPr lang="en-IN" sz="1800" dirty="0"/>
                      </a:b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Accumulates total weight:  (22-bit register).</a:t>
                      </a:r>
                      <a:br>
                        <a:rPr lang="en-IN" sz="1800" dirty="0"/>
                      </a:b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 </a:t>
                      </a: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Latency: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1024 clock cycles per frame.</a:t>
                      </a:r>
                      <a:endParaRPr sz="1800" b="0" dirty="0">
                        <a:solidFill>
                          <a:srgbClr val="222D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42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Restoring Division</a:t>
                      </a:r>
                      <a:endParaRPr sz="1800" b="1" dirty="0">
                        <a:solidFill>
                          <a:srgbClr val="222D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Resolves the division on-chip using a sequential 32-cycle restoring divider.</a:t>
                      </a:r>
                      <a:br>
                        <a:rPr lang="en-IN" sz="1800" dirty="0"/>
                      </a:b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Computes the final 10-bit integer centroid: .</a:t>
                      </a:r>
                      <a:br>
                        <a:rPr lang="en-IN" sz="1800" dirty="0"/>
                      </a:b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Protects against division-by-zero (defaults  to 0 if no dip is detected).</a:t>
                      </a:r>
                      <a:br>
                        <a:rPr lang="en-IN" sz="1800" dirty="0"/>
                      </a:b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 </a:t>
                      </a: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Latency: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32 clock cycles.</a:t>
                      </a:r>
                      <a:endParaRPr sz="1800" b="0" dirty="0">
                        <a:solidFill>
                          <a:srgbClr val="222D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912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Pipeline Orchestration</a:t>
                      </a:r>
                      <a:endParaRPr sz="1800" b="1" dirty="0">
                        <a:solidFill>
                          <a:srgbClr val="222D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Handshakes via simple control signals: starts on start, asserts busy, and pulses done when finished.</a:t>
                      </a:r>
                      <a:br>
                        <a:rPr lang="en-IN" sz="1800" dirty="0"/>
                      </a:b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Total processing latency per frame: </a:t>
                      </a: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1057 clock cycles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sz="1800" b="0" dirty="0">
                        <a:solidFill>
                          <a:srgbClr val="222D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" name="Picture 6" descr="IIT Roorkee - Wikipedia">
            <a:extLst>
              <a:ext uri="{FF2B5EF4-FFF2-40B4-BE49-F238E27FC236}">
                <a16:creationId xmlns:a16="http://schemas.microsoft.com/office/drawing/2014/main" id="{102528C0-B2D6-A6F1-975B-3C5B91A02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6761" y="9728904"/>
            <a:ext cx="913012" cy="91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959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1636-0F11-0210-90BE-1FC04D7A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B928CF-53B7-B31A-4219-B78DC16F3014}"/>
              </a:ext>
            </a:extLst>
          </p:cNvPr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32E2FE-E982-D5B3-E125-69865FC50B59}"/>
              </a:ext>
            </a:extLst>
          </p:cNvPr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AE21EF-4D56-59FA-1B0F-732EDC4F6C6F}"/>
              </a:ext>
            </a:extLst>
          </p:cNvPr>
          <p:cNvSpPr/>
          <p:nvPr/>
        </p:nvSpPr>
        <p:spPr>
          <a:xfrm>
            <a:off x="0" y="9671388"/>
            <a:ext cx="12919442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7676D-0404-6BDB-EF81-CE7AC25693CE}"/>
              </a:ext>
            </a:extLst>
          </p:cNvPr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STATE OF THE 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C0D426-8CB5-11C4-A7D2-C566FF36D0D3}"/>
              </a:ext>
            </a:extLst>
          </p:cNvPr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8DD37E-3605-B406-BF01-0A08FA20E0D3}"/>
              </a:ext>
            </a:extLst>
          </p:cNvPr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3600" b="1" dirty="0">
                <a:solidFill>
                  <a:srgbClr val="002060"/>
                </a:solidFill>
                <a:latin typeface="Calibri"/>
              </a:rPr>
              <a:t>1</a:t>
            </a:r>
            <a:r>
              <a:rPr lang="en-US" sz="3600" b="1" dirty="0">
                <a:solidFill>
                  <a:srgbClr val="002060"/>
                </a:solidFill>
                <a:latin typeface="Calibri"/>
              </a:rPr>
              <a:t>0</a:t>
            </a:r>
            <a:endParaRPr sz="36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05244B-F6DB-622A-C2DC-4A9368C33AEE}"/>
              </a:ext>
            </a:extLst>
          </p:cNvPr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5173D1-8C8E-A5E2-CB58-336AA44CD543}"/>
              </a:ext>
            </a:extLst>
          </p:cNvPr>
          <p:cNvSpPr txBox="1"/>
          <p:nvPr/>
        </p:nvSpPr>
        <p:spPr>
          <a:xfrm>
            <a:off x="120458" y="485267"/>
            <a:ext cx="2262730" cy="338554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Calibri"/>
              </a:rPr>
              <a:t>SPRi — </a:t>
            </a:r>
            <a:r>
              <a:rPr lang="en-US" sz="2200" b="1" dirty="0" err="1">
                <a:solidFill>
                  <a:srgbClr val="FFFFFF"/>
                </a:solidFill>
                <a:latin typeface="Calibri"/>
              </a:rPr>
              <a:t>Algorithim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0" name="Picture 6" descr="IIT Roorkee - Wikipedia">
            <a:extLst>
              <a:ext uri="{FF2B5EF4-FFF2-40B4-BE49-F238E27FC236}">
                <a16:creationId xmlns:a16="http://schemas.microsoft.com/office/drawing/2014/main" id="{E36CB1A6-D5BF-40F3-63D1-BB8F257DC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6761" y="9728904"/>
            <a:ext cx="913012" cy="91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spr_pixel_by_pixel_anim">
            <a:hlinkClick r:id="" action="ppaction://media"/>
            <a:extLst>
              <a:ext uri="{FF2B5EF4-FFF2-40B4-BE49-F238E27FC236}">
                <a16:creationId xmlns:a16="http://schemas.microsoft.com/office/drawing/2014/main" id="{703274D4-207C-F938-4083-3B4890C25C2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81224" y="822324"/>
            <a:ext cx="11134725" cy="874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623B93-3526-A03E-461E-E023047D5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1808-BF12-2549-9BB2-22C5AD4CB487}" type="slidenum">
              <a:rPr lang="en-JP" smtClean="0"/>
              <a:t>16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8514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71388"/>
            <a:ext cx="12919442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STATE OF THE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3600" b="1">
                <a:solidFill>
                  <a:srgbClr val="002060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0458" y="461861"/>
            <a:ext cx="14836289" cy="385367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Calibri"/>
              </a:rPr>
              <a:t>CS-SPRi — </a:t>
            </a:r>
            <a:r>
              <a:rPr lang="en-IN" sz="2200" b="1" dirty="0">
                <a:solidFill>
                  <a:srgbClr val="FFFFFF"/>
                </a:solidFill>
                <a:latin typeface="Calibri"/>
              </a:rPr>
              <a:t>RESULTS &amp; FUTURE APPLICATIONS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0000" y="1100000"/>
            <a:ext cx="14300000" cy="4028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 dirty="0">
                <a:solidFill>
                  <a:srgbClr val="002060"/>
                </a:solidFill>
                <a:latin typeface="Calibri"/>
              </a:rPr>
              <a:t>Microsecond-resolved interfacial dynamics — and what they unlock in biology and energy materials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00" y="1750000"/>
            <a:ext cx="4600000" cy="3200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000" y="1750000"/>
            <a:ext cx="4600000" cy="120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000" y="1950000"/>
            <a:ext cx="2238498" cy="384721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l"/>
            <a:r>
              <a:rPr sz="2200" b="1" dirty="0">
                <a:solidFill>
                  <a:srgbClr val="6B7280"/>
                </a:solidFill>
                <a:latin typeface="Calibri"/>
              </a:rPr>
              <a:t>Aqueous Electrolyte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0" y="2550000"/>
            <a:ext cx="4360000" cy="1469633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NaCl solution: fast EDL dynamics resolved at the electrode interface.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Time constant τ = 1.4 ms — ion exchange &amp; transport in the EDL.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0000" y="1750000"/>
            <a:ext cx="4600000" cy="3200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00000" y="1750000"/>
            <a:ext cx="4600000" cy="12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20000" y="1950000"/>
            <a:ext cx="1578061" cy="323165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l"/>
            <a:r>
              <a:rPr b="1" dirty="0">
                <a:solidFill>
                  <a:srgbClr val="002060"/>
                </a:solidFill>
                <a:latin typeface="Calibri"/>
              </a:rPr>
              <a:t>Ionic Liquid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0000" y="2550000"/>
            <a:ext cx="4360000" cy="1121589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[BPY]BF₄ ionic liquid: fast ion-polarization transient resolved.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Transient timescale: 187 µs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0000" y="1750000"/>
            <a:ext cx="4600000" cy="3200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98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0000" y="1750000"/>
            <a:ext cx="4600000" cy="120000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70000" y="1950000"/>
            <a:ext cx="1865447" cy="353943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l"/>
            <a:r>
              <a:rPr sz="2000" b="1" dirty="0">
                <a:solidFill>
                  <a:srgbClr val="C98A1B"/>
                </a:solidFill>
                <a:latin typeface="Calibri"/>
              </a:rPr>
              <a:t>Future Biomedical 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0000" y="2550000"/>
            <a:ext cx="4360000" cy="1185709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Enzyme catalysis &amp; single-molecule turnover events.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DNA &amp; protein folding pathways resolved in real time.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dirty="0">
                <a:solidFill>
                  <a:srgbClr val="222D4A"/>
                </a:solidFill>
                <a:latin typeface="Calibri"/>
              </a:rPr>
              <a:t>▸  Drug–receptor binding kinetics &amp; neuronal action potentials.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000" y="5200000"/>
            <a:ext cx="14300000" cy="4028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02060"/>
                </a:solidFill>
                <a:latin typeface="Calibri"/>
              </a:rPr>
              <a:t>The Significance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000" y="5700000"/>
            <a:ext cx="12194425" cy="802587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CS-SPRi shifts the bottleneck from camera hardware to algorithms — a software-side path forward for the whole field.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b="0" dirty="0">
                <a:solidFill>
                  <a:srgbClr val="222D4A"/>
                </a:solidFill>
                <a:latin typeface="Calibri"/>
              </a:rPr>
              <a:t>▸  Same optical bench, same chip, same sensitivity — yet six orders of magnitude faster in time.</a:t>
            </a:r>
          </a:p>
        </p:txBody>
      </p:sp>
      <p:pic>
        <p:nvPicPr>
          <p:cNvPr id="27" name="Picture 6" descr="IIT Roorkee - Wikipedia">
            <a:extLst>
              <a:ext uri="{FF2B5EF4-FFF2-40B4-BE49-F238E27FC236}">
                <a16:creationId xmlns:a16="http://schemas.microsoft.com/office/drawing/2014/main" id="{344BD7DB-6744-3349-9CCC-6C82EC7DB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6761" y="9728904"/>
            <a:ext cx="913012" cy="91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78D73D-DF14-6692-EB6E-EC739A6D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55F43A-5DAC-C003-2C6A-0270039E03D8}"/>
              </a:ext>
            </a:extLst>
          </p:cNvPr>
          <p:cNvSpPr/>
          <p:nvPr/>
        </p:nvSpPr>
        <p:spPr>
          <a:xfrm>
            <a:off x="60458" y="461861"/>
            <a:ext cx="14956289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937B9A-E03F-C3F3-83AE-521FE48E5110}"/>
              </a:ext>
            </a:extLst>
          </p:cNvPr>
          <p:cNvSpPr/>
          <p:nvPr/>
        </p:nvSpPr>
        <p:spPr>
          <a:xfrm>
            <a:off x="0" y="9888048"/>
            <a:ext cx="15119350" cy="809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CE4CFA-0846-8515-7E35-E604C42660B9}"/>
              </a:ext>
            </a:extLst>
          </p:cNvPr>
          <p:cNvSpPr/>
          <p:nvPr/>
        </p:nvSpPr>
        <p:spPr>
          <a:xfrm>
            <a:off x="0" y="9671388"/>
            <a:ext cx="12919442" cy="385367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20D88-9A85-36E1-0375-08B4F8DD161C}"/>
              </a:ext>
            </a:extLst>
          </p:cNvPr>
          <p:cNvSpPr txBox="1"/>
          <p:nvPr/>
        </p:nvSpPr>
        <p:spPr>
          <a:xfrm>
            <a:off x="180000" y="9671388"/>
            <a:ext cx="10000000" cy="385367"/>
          </a:xfrm>
          <a:prstGeom prst="rect">
            <a:avLst/>
          </a:prstGeom>
          <a:noFill/>
        </p:spPr>
        <p:txBody>
          <a:bodyPr wrap="none" lIns="36000" tIns="36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STATE OF THE 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5BAAB3-BE63-0724-5A76-B49D16FF2227}"/>
              </a:ext>
            </a:extLst>
          </p:cNvPr>
          <p:cNvSpPr txBox="1"/>
          <p:nvPr/>
        </p:nvSpPr>
        <p:spPr>
          <a:xfrm>
            <a:off x="180000" y="10226889"/>
            <a:ext cx="699354" cy="246221"/>
          </a:xfrm>
          <a:prstGeom prst="rect">
            <a:avLst/>
          </a:prstGeom>
          <a:noFill/>
        </p:spPr>
        <p:txBody>
          <a:bodyPr wrap="none" lIns="36000" tIns="0" anchor="ctr">
            <a:spAutoFit/>
          </a:bodyPr>
          <a:lstStyle/>
          <a:p>
            <a:pPr algn="l"/>
            <a:r>
              <a:rPr lang="en-IN" sz="1300" b="1" dirty="0">
                <a:solidFill>
                  <a:srgbClr val="002060"/>
                </a:solidFill>
                <a:latin typeface="Calibri"/>
              </a:rPr>
              <a:t>Seminar</a:t>
            </a:r>
            <a:endParaRPr sz="13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607A65-A526-6A47-9D42-D2110D864DAC}"/>
              </a:ext>
            </a:extLst>
          </p:cNvPr>
          <p:cNvSpPr/>
          <p:nvPr/>
        </p:nvSpPr>
        <p:spPr>
          <a:xfrm>
            <a:off x="12919442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3600" b="1">
                <a:solidFill>
                  <a:srgbClr val="002060"/>
                </a:solidFill>
                <a:latin typeface="Calibri"/>
              </a:rPr>
              <a:t>1</a:t>
            </a:r>
            <a:r>
              <a:rPr lang="en-US" sz="3600" b="1">
                <a:solidFill>
                  <a:srgbClr val="002060"/>
                </a:solidFill>
                <a:latin typeface="Calibri"/>
              </a:rPr>
              <a:t>6</a:t>
            </a:r>
            <a:endParaRPr sz="36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A43473-5E80-F108-51B9-7D6D91C51FEC}"/>
              </a:ext>
            </a:extLst>
          </p:cNvPr>
          <p:cNvSpPr/>
          <p:nvPr/>
        </p:nvSpPr>
        <p:spPr>
          <a:xfrm>
            <a:off x="14027185" y="9679007"/>
            <a:ext cx="1092165" cy="101280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sz="20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8B39D-2F13-7642-3865-5B2765A8D61F}"/>
              </a:ext>
            </a:extLst>
          </p:cNvPr>
          <p:cNvSpPr txBox="1"/>
          <p:nvPr/>
        </p:nvSpPr>
        <p:spPr>
          <a:xfrm>
            <a:off x="120458" y="516045"/>
            <a:ext cx="9299657" cy="276999"/>
          </a:xfrm>
          <a:prstGeom prst="rect">
            <a:avLst/>
          </a:prstGeom>
          <a:noFill/>
        </p:spPr>
        <p:txBody>
          <a:bodyPr wrap="none" lIns="36000" tIns="0" bIns="0" anchor="ctr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CNN and K-NN Methods for Image-Response Recognition in Surface Plasmon Resonance Sensors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058847-13EE-F1C9-2BA6-87C394769469}"/>
              </a:ext>
            </a:extLst>
          </p:cNvPr>
          <p:cNvSpPr txBox="1"/>
          <p:nvPr/>
        </p:nvSpPr>
        <p:spPr>
          <a:xfrm>
            <a:off x="350000" y="1100000"/>
            <a:ext cx="6800000" cy="5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02060"/>
                </a:solidFill>
                <a:latin typeface="Calibri"/>
              </a:rPr>
              <a:t>Working Principle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C428CA-C8D0-FAE6-308D-E201359D81E3}"/>
              </a:ext>
            </a:extLst>
          </p:cNvPr>
          <p:cNvSpPr txBox="1"/>
          <p:nvPr/>
        </p:nvSpPr>
        <p:spPr>
          <a:xfrm>
            <a:off x="349999" y="1625075"/>
            <a:ext cx="14025567" cy="419133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r>
              <a:rPr lang="en-US" b="1" dirty="0"/>
              <a:t>Digital Processing Pipeline</a:t>
            </a:r>
          </a:p>
          <a:p>
            <a:r>
              <a:rPr lang="en-US" dirty="0"/>
              <a:t>The captured SPR images are fed into a Digital Processing Unit (DPU) which runs predictive models to classify the substance. The paper evaluates two distinct computational approaches for this:</a:t>
            </a:r>
          </a:p>
          <a:p>
            <a:r>
              <a:rPr lang="en-US" b="1" dirty="0"/>
              <a:t>The k-Nearest Neighbors (k-NN) Approach</a:t>
            </a:r>
            <a:endParaRPr lang="en-US" dirty="0"/>
          </a:p>
          <a:p>
            <a:r>
              <a:rPr lang="en-US" dirty="0"/>
              <a:t>This is a shallow machine learning method that relies on handcrafted feature extraction (specifically, projection histograms).</a:t>
            </a:r>
          </a:p>
          <a:p>
            <a:r>
              <a:rPr lang="en-US" dirty="0"/>
              <a:t>For an image f(</a:t>
            </a:r>
            <a:r>
              <a:rPr lang="en-US" dirty="0" err="1"/>
              <a:t>x,y</a:t>
            </a:r>
            <a:r>
              <a:rPr lang="en-US" dirty="0"/>
              <a:t>) with an M x N resolution, the algorithm calculates the vertical projection (VP) and horizontal projection (HP) by summing pixel intensities across rows and columns.</a:t>
            </a:r>
          </a:p>
          <a:p>
            <a:r>
              <a:rPr lang="en-US" dirty="0"/>
              <a:t>The position of the minimal vertical projection (P_V) directly reflects the resonance position in the image.</a:t>
            </a:r>
          </a:p>
          <a:p>
            <a:r>
              <a:rPr lang="en-US" dirty="0"/>
              <a:t>This position, combined with its corresponding horizontal value (P_H), creates a 2D coordinate point used by the k-NN algorithm to cluster and classify the data.</a:t>
            </a:r>
          </a:p>
          <a:p>
            <a:r>
              <a:rPr lang="en-US" b="1" dirty="0"/>
              <a:t>The Convolutional Neural Network (CNN) Approach</a:t>
            </a:r>
            <a:endParaRPr lang="en-US" dirty="0"/>
          </a:p>
          <a:p>
            <a:r>
              <a:rPr lang="en-US" dirty="0"/>
              <a:t>This deep learning method utilizes a fine-tuned </a:t>
            </a:r>
            <a:r>
              <a:rPr lang="en-US" b="1" dirty="0"/>
              <a:t>MobileNetV3</a:t>
            </a:r>
            <a:r>
              <a:rPr lang="en-US" dirty="0"/>
              <a:t> architecture via transfer learning.</a:t>
            </a:r>
          </a:p>
          <a:p>
            <a:r>
              <a:rPr lang="en-US" dirty="0"/>
              <a:t>Unlike the k-NN method, the CNN does not require manual feature extraction. It automatically identifies discriminative spatial patterns and features directly from the raw SPR images.</a:t>
            </a:r>
          </a:p>
          <a:p>
            <a:r>
              <a:rPr lang="en-US" dirty="0"/>
              <a:t>It utilizes depth wise and pointwise convolutions to process the visual data and map the optical response to a specific refractive index class.</a:t>
            </a:r>
          </a:p>
        </p:txBody>
      </p:sp>
      <p:pic>
        <p:nvPicPr>
          <p:cNvPr id="17" name="Picture 6" descr="IIT Roorkee - Wikipedia">
            <a:extLst>
              <a:ext uri="{FF2B5EF4-FFF2-40B4-BE49-F238E27FC236}">
                <a16:creationId xmlns:a16="http://schemas.microsoft.com/office/drawing/2014/main" id="{97F93A4E-54DC-7D95-915C-9A47F07A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6761" y="9728904"/>
            <a:ext cx="913012" cy="91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0C2E4C-4F24-4CBE-3A25-86AFD6E163BC}"/>
              </a:ext>
            </a:extLst>
          </p:cNvPr>
          <p:cNvSpPr txBox="1"/>
          <p:nvPr/>
        </p:nvSpPr>
        <p:spPr>
          <a:xfrm>
            <a:off x="3783806" y="5187434"/>
            <a:ext cx="7567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AD59CF-0DB4-29E3-5C9A-8EA2E603890F}"/>
              </a:ext>
            </a:extLst>
          </p:cNvPr>
          <p:cNvSpPr txBox="1"/>
          <p:nvPr/>
        </p:nvSpPr>
        <p:spPr>
          <a:xfrm>
            <a:off x="3783806" y="5187434"/>
            <a:ext cx="7567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5C4D082-2C03-5FC6-51E1-47834646C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075" y="6437515"/>
            <a:ext cx="7810500" cy="223837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9971266-0E86-F88D-6659-94664D14A1E0}"/>
              </a:ext>
            </a:extLst>
          </p:cNvPr>
          <p:cNvSpPr txBox="1"/>
          <p:nvPr/>
        </p:nvSpPr>
        <p:spPr>
          <a:xfrm>
            <a:off x="2447925" y="8675890"/>
            <a:ext cx="113918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rgbClr val="AFABAB"/>
                </a:solidFill>
              </a:rPr>
              <a:t>Fig. a) Photograph of the experimental set-up. b) Illustration of the multilayer structure of the intelligent SPR sensor with predictive model. dual approach based on deep (CNN) or machine (k-NN) learning algorithms. image projection histogram feature used for image representation.</a:t>
            </a:r>
            <a:endParaRPr lang="en-US" sz="1600" b="1" i="1" dirty="0">
              <a:solidFill>
                <a:srgbClr val="AFABAB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88509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1">
    <wetp:webextensionref xmlns:r="http://schemas.openxmlformats.org/officeDocument/2006/relationships" r:id="rId2"/>
  </wetp:taskpane>
  <wetp:taskpane dockstate="right" visibility="0" width="525" row="2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C4B7F916-C144-479D-9D9D-E54C4B7B2AA2}">
  <we:reference id="wa200005669" version="2.0.0.0" store="en-IN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E32CAB2-EDF5-48C6-A734-A190FCA17652}">
  <we:reference id="wa200005107" version="1.1.0.0" store="en-IN" storeType="OMEX"/>
  <we:alternateReferences>
    <we:reference id="WA200005107" version="1.1.0.0" store="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2F6AF94E-0490-4292-A8F9-B619C847750C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925bb482-ebe4-47cf-9e48-53a9fb02419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Hetero structure laser</Template>
  <TotalTime>1464</TotalTime>
  <Words>2630</Words>
  <Application>Microsoft Office PowerPoint</Application>
  <PresentationFormat>Custom</PresentationFormat>
  <Paragraphs>290</Paragraphs>
  <Slides>18</Slides>
  <Notes>1</Notes>
  <HiddenSlides>7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 Display</vt:lpstr>
      <vt:lpstr>Arial</vt:lpstr>
      <vt:lpstr>Calibri</vt:lpstr>
      <vt:lpstr>Calibri body</vt:lpstr>
      <vt:lpstr>Calibri Light</vt:lpstr>
      <vt:lpstr>Cambria Math</vt:lpstr>
      <vt:lpstr>Do Hyeon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Moon Boro</dc:creator>
  <cp:lastModifiedBy>Moon Boro</cp:lastModifiedBy>
  <cp:revision>19</cp:revision>
  <dcterms:created xsi:type="dcterms:W3CDTF">2026-04-27T14:47:35Z</dcterms:created>
  <dcterms:modified xsi:type="dcterms:W3CDTF">2026-06-11T13:31:25Z</dcterms:modified>
</cp:coreProperties>
</file>